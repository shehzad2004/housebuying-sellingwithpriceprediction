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9" r:id="rId4"/>
    <p:sldId id="260" r:id="rId5"/>
    <p:sldId id="261" r:id="rId6"/>
    <p:sldId id="263" r:id="rId7"/>
    <p:sldId id="264" r:id="rId8"/>
    <p:sldId id="265" r:id="rId9"/>
    <p:sldId id="266" r:id="rId10"/>
    <p:sldId id="267" r:id="rId11"/>
    <p:sldId id="271" r:id="rId12"/>
    <p:sldId id="283" r:id="rId13"/>
    <p:sldId id="284" r:id="rId14"/>
    <p:sldId id="272" r:id="rId15"/>
    <p:sldId id="273" r:id="rId16"/>
    <p:sldId id="274" r:id="rId17"/>
    <p:sldId id="275" r:id="rId18"/>
    <p:sldId id="276" r:id="rId19"/>
    <p:sldId id="277" r:id="rId20"/>
    <p:sldId id="279" r:id="rId21"/>
    <p:sldId id="280" r:id="rId22"/>
    <p:sldId id="281" r:id="rId23"/>
    <p:sldId id="282" r:id="rId24"/>
    <p:sldId id="268" r:id="rId25"/>
    <p:sldId id="270" r:id="rId26"/>
    <p:sldId id="278" r:id="rId27"/>
    <p:sldId id="269"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146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2B86B37-9E7C-4699-A89E-72EE4B291650}" type="datetimeFigureOut">
              <a:rPr lang="en-US" smtClean="0"/>
              <a:pPr/>
              <a:t>7/15/2026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EFE787-E5F2-40C5-9D43-E7EAF8E51FDF}" type="slidenum">
              <a:rPr lang="en-US" smtClean="0"/>
              <a:pPr/>
              <a:t>‹#›</a:t>
            </a:fld>
            <a:endParaRPr lang="en-US"/>
          </a:p>
        </p:txBody>
      </p:sp>
    </p:spTree>
    <p:extLst>
      <p:ext uri="{BB962C8B-B14F-4D97-AF65-F5344CB8AC3E}">
        <p14:creationId xmlns:p14="http://schemas.microsoft.com/office/powerpoint/2010/main" val="1227485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E7D89F-69BA-45D8-85C1-789124DFB921}" type="datetime1">
              <a:rPr lang="en-US" smtClean="0"/>
              <a:pPr/>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F83749-7540-4838-B5FB-EDC40CB84DB0}" type="datetime1">
              <a:rPr lang="en-US" smtClean="0"/>
              <a:pPr/>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1A8085-18D1-4091-8AD3-81F140965EFC}" type="datetime1">
              <a:rPr lang="en-US" smtClean="0"/>
              <a:pPr/>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ACD35F7-97F8-4D2E-B83D-158766068E0A}" type="datetime1">
              <a:rPr lang="en-US" smtClean="0"/>
              <a:pPr/>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03EFADE-B1F7-484F-89D9-3E148D53B52B}" type="datetime1">
              <a:rPr lang="en-US" smtClean="0"/>
              <a:pPr/>
              <a:t>7/15/2026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9F378E-9541-4F7D-BD6F-302448FBBB81}" type="datetime1">
              <a:rPr lang="en-US" smtClean="0"/>
              <a:pPr/>
              <a:t>7/15/2026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26370F-658E-452B-A4D5-DB4240E0AF51}" type="datetime1">
              <a:rPr lang="en-US" smtClean="0"/>
              <a:pPr/>
              <a:t>7/15/2026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18E6F0-0C4F-4052-A284-495110A822E2}" type="datetime1">
              <a:rPr lang="en-US" smtClean="0"/>
              <a:pPr/>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4C22A7-5E39-4CEE-A6B3-52DA5303DD53}" type="datetime1">
              <a:rPr lang="en-US" smtClean="0"/>
              <a:pPr/>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641830-9FBF-4C58-837A-230882702FD4}" type="datetime1">
              <a:rPr lang="en-US" smtClean="0"/>
              <a:pPr/>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1B8442-52C5-4632-BA82-04F7AD4C9B34}" type="datetime1">
              <a:rPr lang="en-US" smtClean="0"/>
              <a:pPr/>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8188C4-8F03-4988-A683-AFCBDCFC6ED7}" type="datetime1">
              <a:rPr lang="en-US" smtClean="0"/>
              <a:pPr/>
              <a:t>7/15/2026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2A8C5E-5ACC-4DAB-B41C-5718F8C58B6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Project Title: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House Buying &amp; Selling with Price Prediction</a:t>
            </a:r>
          </a:p>
        </p:txBody>
      </p:sp>
      <p:sp>
        <p:nvSpPr>
          <p:cNvPr id="3" name="Subtitle 2"/>
          <p:cNvSpPr>
            <a:spLocks noGrp="1"/>
          </p:cNvSpPr>
          <p:nvPr>
            <p:ph type="subTitle" idx="1"/>
          </p:nvPr>
        </p:nvSpPr>
        <p:spPr>
          <a:xfrm>
            <a:off x="1371600" y="3886200"/>
            <a:ext cx="6400800" cy="1143000"/>
          </a:xfrm>
        </p:spPr>
        <p:txBody>
          <a:bodyPr>
            <a:noAutofit/>
          </a:bodyPr>
          <a:lstStyle/>
          <a:p>
            <a:r>
              <a:rPr lang="en-US" sz="1600" dirty="0">
                <a:latin typeface="Times New Roman" panose="02020603050405020304" pitchFamily="18" charset="0"/>
                <a:cs typeface="Times New Roman" panose="02020603050405020304" pitchFamily="18" charset="0"/>
              </a:rPr>
              <a:t>Shehzad Ahmad  (SP23-BSE-088)</a:t>
            </a:r>
          </a:p>
          <a:p>
            <a:r>
              <a:rPr lang="en-US" sz="1600" dirty="0">
                <a:latin typeface="Times New Roman" panose="02020603050405020304" pitchFamily="18" charset="0"/>
                <a:cs typeface="Times New Roman" panose="02020603050405020304" pitchFamily="18" charset="0"/>
              </a:rPr>
              <a:t>M. Ahmad Khan (SP23-BSE-137)</a:t>
            </a:r>
          </a:p>
          <a:p>
            <a:r>
              <a:rPr lang="en-US" sz="1600" dirty="0">
                <a:latin typeface="Times New Roman" panose="02020603050405020304" pitchFamily="18" charset="0"/>
                <a:cs typeface="Times New Roman" panose="02020603050405020304" pitchFamily="18" charset="0"/>
              </a:rPr>
              <a:t>Abbas Khan        (SP23-BSE-115)</a:t>
            </a:r>
          </a:p>
          <a:p>
            <a:r>
              <a:rPr lang="en-US" sz="1600" dirty="0">
                <a:latin typeface="Times New Roman" panose="02020603050405020304" pitchFamily="18" charset="0"/>
                <a:cs typeface="Times New Roman" panose="02020603050405020304" pitchFamily="18" charset="0"/>
              </a:rPr>
              <a:t>Supervisor:</a:t>
            </a:r>
          </a:p>
          <a:p>
            <a:r>
              <a:rPr lang="en-US" sz="1600" dirty="0">
                <a:latin typeface="Times New Roman" panose="02020603050405020304" pitchFamily="18" charset="0"/>
                <a:cs typeface="Times New Roman" panose="02020603050405020304" pitchFamily="18" charset="0"/>
              </a:rPr>
              <a:t>Ahmed Ali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1</a:t>
            </a:fld>
            <a:endParaRPr lang="en-US" dirty="0">
              <a:latin typeface="Times New Roman" panose="02020603050405020304" pitchFamily="18" charset="0"/>
              <a:cs typeface="Times New Roman" panose="02020603050405020304" pitchFamily="18" charset="0"/>
            </a:endParaRPr>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393773" y="5791200"/>
            <a:ext cx="996315" cy="996315"/>
          </a:xfrm>
          <a:prstGeom prst="rect">
            <a:avLst/>
          </a:prstGeom>
          <a:noFill/>
        </p:spPr>
      </p:pic>
      <p:sp>
        <p:nvSpPr>
          <p:cNvPr id="6" name="Subtitle 2"/>
          <p:cNvSpPr txBox="1">
            <a:spLocks/>
          </p:cNvSpPr>
          <p:nvPr/>
        </p:nvSpPr>
        <p:spPr>
          <a:xfrm>
            <a:off x="1600200" y="5638800"/>
            <a:ext cx="6172200" cy="1143000"/>
          </a:xfrm>
          <a:prstGeom prst="rect">
            <a:avLst/>
          </a:prstGeom>
        </p:spPr>
        <p:txBody>
          <a:bodyPr vert="horz" lIns="91440" tIns="45720" rIns="91440" bIns="45720" rtlCol="0">
            <a:normAutofit fontScale="925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cs typeface="Times New Roman" panose="02020603050405020304" pitchFamily="18" charset="0"/>
              </a:rPr>
              <a:t>Department of Computer</a:t>
            </a:r>
            <a:r>
              <a:rPr kumimoji="0" lang="en-US" sz="2800" b="0" i="0" u="none" strike="noStrike" kern="1200" cap="none" spc="0" normalizeH="0" noProof="0" dirty="0">
                <a:ln>
                  <a:noFill/>
                </a:ln>
                <a:solidFill>
                  <a:schemeClr val="tx1">
                    <a:tint val="75000"/>
                  </a:schemeClr>
                </a:solidFill>
                <a:effectLst/>
                <a:uLnTx/>
                <a:uFillTx/>
                <a:latin typeface="Times New Roman" panose="02020603050405020304" pitchFamily="18" charset="0"/>
                <a:cs typeface="Times New Roman" panose="02020603050405020304" pitchFamily="18" charset="0"/>
              </a:rPr>
              <a:t> Science</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200" baseline="0" dirty="0">
                <a:solidFill>
                  <a:schemeClr val="tx1">
                    <a:tint val="75000"/>
                  </a:schemeClr>
                </a:solidFill>
                <a:latin typeface="Times New Roman" panose="02020603050405020304" pitchFamily="18" charset="0"/>
                <a:cs typeface="Times New Roman" panose="02020603050405020304" pitchFamily="18" charset="0"/>
              </a:rPr>
              <a:t>COMSATS</a:t>
            </a:r>
            <a:r>
              <a:rPr lang="en-US" sz="2200" dirty="0">
                <a:solidFill>
                  <a:schemeClr val="tx1">
                    <a:tint val="75000"/>
                  </a:schemeClr>
                </a:solidFill>
                <a:latin typeface="Times New Roman" panose="02020603050405020304" pitchFamily="18" charset="0"/>
                <a:cs typeface="Times New Roman" panose="02020603050405020304" pitchFamily="18" charset="0"/>
              </a:rPr>
              <a:t> University Islamabad, Abbottabad Campus</a:t>
            </a:r>
            <a:endParaRPr kumimoji="0" lang="en-US" sz="2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cs typeface="Times New Roman" panose="02020603050405020304" pitchFamily="18" charset="0"/>
            </a:endParaRPr>
          </a:p>
        </p:txBody>
      </p:sp>
      <p:sp>
        <p:nvSpPr>
          <p:cNvPr id="7" name="TextBox 1"/>
          <p:cNvSpPr txBox="1">
            <a:spLocks noChangeArrowheads="1"/>
          </p:cNvSpPr>
          <p:nvPr/>
        </p:nvSpPr>
        <p:spPr bwMode="auto">
          <a:xfrm>
            <a:off x="1066800" y="381000"/>
            <a:ext cx="6858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GB" sz="2800" dirty="0">
                <a:latin typeface="Times New Roman" panose="02020603050405020304" pitchFamily="18" charset="0"/>
                <a:cs typeface="Times New Roman" panose="02020603050405020304" pitchFamily="18" charset="0"/>
              </a:rPr>
              <a:t>30% Presentation Template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Agenda of the Presentation</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2</a:t>
            </a:fld>
            <a:endParaRPr lang="en-US">
              <a:latin typeface="Times New Roman" panose="02020603050405020304" pitchFamily="18" charset="0"/>
              <a:cs typeface="Times New Roman" panose="02020603050405020304" pitchFamily="18" charset="0"/>
            </a:endParaRPr>
          </a:p>
        </p:txBody>
      </p:sp>
      <p:sp>
        <p:nvSpPr>
          <p:cNvPr id="5" name="TextBox 4"/>
          <p:cNvSpPr txBox="1"/>
          <p:nvPr/>
        </p:nvSpPr>
        <p:spPr>
          <a:xfrm>
            <a:off x="457200" y="1600200"/>
            <a:ext cx="3931920" cy="4525963"/>
          </a:xfrm>
          <a:prstGeom prst="rect">
            <a:avLst/>
          </a:prstGeom>
          <a:noFill/>
        </p:spPr>
        <p:txBody>
          <a:bodyPr wrap="square" lIns="0" tIns="0" rIns="0" bIns="0">
            <a:spAutoFit/>
          </a:bodyPr>
          <a:lstStyle/>
          <a:p>
            <a:pPr algn="l">
              <a:spcBef>
                <a:spcPts val="0"/>
              </a:spcBef>
              <a:spcAft>
                <a:spcPts val="0"/>
              </a:spcAft>
            </a:pPr>
            <a:r>
              <a:rPr sz="2000" b="0" i="0">
                <a:solidFill>
                  <a:srgbClr val="000000"/>
                </a:solidFill>
                <a:latin typeface="Times New Roman"/>
              </a:rPr>
              <a:t>1.  Brief Introduction</a:t>
            </a:r>
          </a:p>
          <a:p>
            <a:pPr algn="l">
              <a:spcBef>
                <a:spcPts val="760"/>
              </a:spcBef>
              <a:spcAft>
                <a:spcPts val="0"/>
              </a:spcAft>
            </a:pPr>
            <a:r>
              <a:rPr sz="2000" b="0" i="0">
                <a:solidFill>
                  <a:srgbClr val="000000"/>
                </a:solidFill>
                <a:latin typeface="Times New Roman"/>
              </a:rPr>
              <a:t>2.  Scope</a:t>
            </a:r>
          </a:p>
          <a:p>
            <a:pPr algn="l">
              <a:spcBef>
                <a:spcPts val="760"/>
              </a:spcBef>
              <a:spcAft>
                <a:spcPts val="0"/>
              </a:spcAft>
            </a:pPr>
            <a:r>
              <a:rPr sz="2000" b="0" i="0">
                <a:solidFill>
                  <a:srgbClr val="000000"/>
                </a:solidFill>
                <a:latin typeface="Times New Roman"/>
              </a:rPr>
              <a:t>3.  Functional Requirements</a:t>
            </a:r>
          </a:p>
          <a:p>
            <a:pPr algn="l">
              <a:spcBef>
                <a:spcPts val="760"/>
              </a:spcBef>
              <a:spcAft>
                <a:spcPts val="0"/>
              </a:spcAft>
            </a:pPr>
            <a:r>
              <a:rPr sz="2000" b="0" i="0">
                <a:solidFill>
                  <a:srgbClr val="000000"/>
                </a:solidFill>
                <a:latin typeface="Times New Roman"/>
              </a:rPr>
              <a:t>4.  Non-Functional Requirements</a:t>
            </a:r>
          </a:p>
          <a:p>
            <a:pPr algn="l">
              <a:spcBef>
                <a:spcPts val="760"/>
              </a:spcBef>
              <a:spcAft>
                <a:spcPts val="0"/>
              </a:spcAft>
            </a:pPr>
            <a:r>
              <a:rPr sz="2000" b="0" i="0">
                <a:solidFill>
                  <a:srgbClr val="000000"/>
                </a:solidFill>
                <a:latin typeface="Times New Roman"/>
              </a:rPr>
              <a:t>5.  User Goals</a:t>
            </a:r>
          </a:p>
          <a:p>
            <a:pPr algn="l">
              <a:spcBef>
                <a:spcPts val="760"/>
              </a:spcBef>
              <a:spcAft>
                <a:spcPts val="0"/>
              </a:spcAft>
            </a:pPr>
            <a:r>
              <a:rPr sz="2000" b="0" i="0">
                <a:solidFill>
                  <a:srgbClr val="000000"/>
                </a:solidFill>
                <a:latin typeface="Times New Roman"/>
              </a:rPr>
              <a:t>6.  Use Cases</a:t>
            </a:r>
          </a:p>
          <a:p>
            <a:pPr algn="l">
              <a:spcBef>
                <a:spcPts val="760"/>
              </a:spcBef>
              <a:spcAft>
                <a:spcPts val="0"/>
              </a:spcAft>
            </a:pPr>
            <a:r>
              <a:rPr sz="2000" b="0" i="0">
                <a:solidFill>
                  <a:srgbClr val="000000"/>
                </a:solidFill>
                <a:latin typeface="Times New Roman"/>
              </a:rPr>
              <a:t>7.  Use Case Diagram</a:t>
            </a:r>
          </a:p>
          <a:p>
            <a:pPr algn="l">
              <a:spcBef>
                <a:spcPts val="760"/>
              </a:spcBef>
              <a:spcAft>
                <a:spcPts val="0"/>
              </a:spcAft>
            </a:pPr>
            <a:r>
              <a:rPr sz="2000" b="0" i="0">
                <a:solidFill>
                  <a:srgbClr val="000000"/>
                </a:solidFill>
                <a:latin typeface="Times New Roman"/>
              </a:rPr>
              <a:t>8.  Class Diagram</a:t>
            </a:r>
          </a:p>
          <a:p>
            <a:pPr algn="l">
              <a:spcBef>
                <a:spcPts val="760"/>
              </a:spcBef>
              <a:spcAft>
                <a:spcPts val="0"/>
              </a:spcAft>
            </a:pPr>
            <a:r>
              <a:rPr sz="2000" b="0" i="0">
                <a:solidFill>
                  <a:srgbClr val="000000"/>
                </a:solidFill>
                <a:latin typeface="Times New Roman"/>
              </a:rPr>
              <a:t>9.  Sequence Diagram</a:t>
            </a:r>
          </a:p>
        </p:txBody>
      </p:sp>
      <p:sp>
        <p:nvSpPr>
          <p:cNvPr id="6" name="TextBox 5"/>
          <p:cNvSpPr txBox="1"/>
          <p:nvPr/>
        </p:nvSpPr>
        <p:spPr>
          <a:xfrm>
            <a:off x="4754880" y="1600200"/>
            <a:ext cx="3931920" cy="4525963"/>
          </a:xfrm>
          <a:prstGeom prst="rect">
            <a:avLst/>
          </a:prstGeom>
          <a:noFill/>
        </p:spPr>
        <p:txBody>
          <a:bodyPr wrap="square" lIns="0" tIns="0" rIns="0" bIns="0">
            <a:spAutoFit/>
          </a:bodyPr>
          <a:lstStyle/>
          <a:p>
            <a:pPr algn="l">
              <a:spcBef>
                <a:spcPts val="0"/>
              </a:spcBef>
              <a:spcAft>
                <a:spcPts val="0"/>
              </a:spcAft>
            </a:pPr>
            <a:r>
              <a:rPr sz="2000" b="0" i="0">
                <a:solidFill>
                  <a:srgbClr val="000000"/>
                </a:solidFill>
                <a:latin typeface="Times New Roman"/>
              </a:rPr>
              <a:t>10.  System Sequence Diagram</a:t>
            </a:r>
          </a:p>
          <a:p>
            <a:pPr algn="l">
              <a:spcBef>
                <a:spcPts val="760"/>
              </a:spcBef>
              <a:spcAft>
                <a:spcPts val="0"/>
              </a:spcAft>
            </a:pPr>
            <a:r>
              <a:rPr sz="2000" b="0" i="0">
                <a:solidFill>
                  <a:srgbClr val="000000"/>
                </a:solidFill>
                <a:latin typeface="Times New Roman"/>
              </a:rPr>
              <a:t>11.  Activity / State Machine Diagram</a:t>
            </a:r>
          </a:p>
          <a:p>
            <a:pPr algn="l">
              <a:spcBef>
                <a:spcPts val="760"/>
              </a:spcBef>
              <a:spcAft>
                <a:spcPts val="0"/>
              </a:spcAft>
            </a:pPr>
            <a:r>
              <a:rPr sz="2000" b="0" i="0">
                <a:solidFill>
                  <a:srgbClr val="000000"/>
                </a:solidFill>
                <a:latin typeface="Times New Roman"/>
              </a:rPr>
              <a:t>12.  ER Diagram</a:t>
            </a:r>
          </a:p>
          <a:p>
            <a:pPr algn="l">
              <a:spcBef>
                <a:spcPts val="760"/>
              </a:spcBef>
              <a:spcAft>
                <a:spcPts val="0"/>
              </a:spcAft>
            </a:pPr>
            <a:r>
              <a:rPr sz="2000" b="0" i="0">
                <a:solidFill>
                  <a:srgbClr val="000000"/>
                </a:solidFill>
                <a:latin typeface="Times New Roman"/>
              </a:rPr>
              <a:t>13.  Package Diagram</a:t>
            </a:r>
          </a:p>
          <a:p>
            <a:pPr algn="l">
              <a:spcBef>
                <a:spcPts val="760"/>
              </a:spcBef>
              <a:spcAft>
                <a:spcPts val="0"/>
              </a:spcAft>
            </a:pPr>
            <a:r>
              <a:rPr sz="2000" b="0" i="0">
                <a:solidFill>
                  <a:srgbClr val="000000"/>
                </a:solidFill>
                <a:latin typeface="Times New Roman"/>
              </a:rPr>
              <a:t>14.  Deployment Diagram</a:t>
            </a:r>
          </a:p>
          <a:p>
            <a:pPr algn="l">
              <a:spcBef>
                <a:spcPts val="760"/>
              </a:spcBef>
              <a:spcAft>
                <a:spcPts val="0"/>
              </a:spcAft>
            </a:pPr>
            <a:r>
              <a:rPr sz="2000" b="0" i="0">
                <a:solidFill>
                  <a:srgbClr val="000000"/>
                </a:solidFill>
                <a:latin typeface="Times New Roman"/>
              </a:rPr>
              <a:t>15.  Decision Table &amp; Pseudocode</a:t>
            </a:r>
          </a:p>
          <a:p>
            <a:pPr algn="l">
              <a:spcBef>
                <a:spcPts val="760"/>
              </a:spcBef>
              <a:spcAft>
                <a:spcPts val="0"/>
              </a:spcAft>
            </a:pPr>
            <a:r>
              <a:rPr sz="2000" b="0" i="0">
                <a:solidFill>
                  <a:srgbClr val="000000"/>
                </a:solidFill>
                <a:latin typeface="Times New Roman"/>
              </a:rPr>
              <a:t>16.  Schedule (Gantt Chart)</a:t>
            </a:r>
          </a:p>
          <a:p>
            <a:pPr algn="l">
              <a:spcBef>
                <a:spcPts val="760"/>
              </a:spcBef>
              <a:spcAft>
                <a:spcPts val="0"/>
              </a:spcAft>
            </a:pPr>
            <a:r>
              <a:rPr sz="2000" b="0" i="0">
                <a:solidFill>
                  <a:srgbClr val="000000"/>
                </a:solidFill>
                <a:latin typeface="Times New Roman"/>
              </a:rPr>
              <a:t>17.  1st Iteration Details (30%)</a:t>
            </a:r>
          </a:p>
          <a:p>
            <a:pPr algn="l">
              <a:spcBef>
                <a:spcPts val="760"/>
              </a:spcBef>
              <a:spcAft>
                <a:spcPts val="0"/>
              </a:spcAft>
            </a:pPr>
            <a:r>
              <a:rPr sz="2000" b="0" i="0">
                <a:solidFill>
                  <a:srgbClr val="000000"/>
                </a:solidFill>
                <a:latin typeface="Times New Roman"/>
              </a:rPr>
              <a:t>18.  2nd Iteration Details (60%)</a:t>
            </a:r>
          </a:p>
          <a:p>
            <a:pPr algn="l">
              <a:spcBef>
                <a:spcPts val="760"/>
              </a:spcBef>
              <a:spcAft>
                <a:spcPts val="0"/>
              </a:spcAft>
            </a:pPr>
            <a:r>
              <a:rPr sz="2000" b="0" i="0">
                <a:solidFill>
                  <a:srgbClr val="000000"/>
                </a:solidFill>
                <a:latin typeface="Times New Roman"/>
              </a:rPr>
              <a:t>19.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Brief Introduction</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3</a:t>
            </a:fld>
            <a:endParaRPr lang="en-US">
              <a:latin typeface="Times New Roman" panose="02020603050405020304" pitchFamily="18" charset="0"/>
              <a:cs typeface="Times New Roman" panose="02020603050405020304" pitchFamily="18" charset="0"/>
            </a:endParaRPr>
          </a:p>
        </p:txBody>
      </p:sp>
      <p:sp>
        <p:nvSpPr>
          <p:cNvPr id="5" name="TextBox 4"/>
          <p:cNvSpPr txBox="1"/>
          <p:nvPr/>
        </p:nvSpPr>
        <p:spPr>
          <a:xfrm>
            <a:off x="457200" y="1600200"/>
            <a:ext cx="8229600" cy="4525963"/>
          </a:xfrm>
          <a:prstGeom prst="rect">
            <a:avLst/>
          </a:prstGeom>
          <a:noFill/>
        </p:spPr>
        <p:txBody>
          <a:bodyPr wrap="square" lIns="0" tIns="0" rIns="0" bIns="0">
            <a:spAutoFit/>
          </a:bodyPr>
          <a:lstStyle/>
          <a:p>
            <a:pPr algn="l">
              <a:lnSpc>
                <a:spcPct val="122000"/>
              </a:lnSpc>
            </a:pPr>
            <a:r>
              <a:rPr sz="1900">
                <a:solidFill>
                  <a:srgbClr val="000000"/>
                </a:solidFill>
                <a:latin typeface="Times New Roman"/>
              </a:rPr>
              <a:t>House Buying &amp; Selling is an AI-powered real estate platform that helps users confidently buy, sell, and rent properties. Inspired by platforms such as Zameen.com, it combines location-based search and verified listings with an AI price-prediction engine that estimates fair market value from property features, location, and historical sales trends. Buyers receive personalized recommendations and mortgage guidance, while sellers get optimal pricing suggestions and listing analytics — all supported by real-time AI chatbot assistance.</a:t>
            </a:r>
          </a:p>
          <a:p>
            <a:pPr algn="l">
              <a:spcBef>
                <a:spcPts val="950"/>
              </a:spcBef>
              <a:spcAft>
                <a:spcPts val="0"/>
              </a:spcAft>
            </a:pPr>
            <a:r>
              <a:rPr sz="1800" b="0" i="0">
                <a:solidFill>
                  <a:srgbClr val="000000"/>
                </a:solidFill>
                <a:latin typeface="Times New Roman"/>
              </a:rPr>
              <a:t>•  Delivered as both a Web application and a Mobile application (Android / iOS)</a:t>
            </a:r>
          </a:p>
          <a:p>
            <a:pPr algn="l">
              <a:spcBef>
                <a:spcPts val="576"/>
              </a:spcBef>
              <a:spcAft>
                <a:spcPts val="0"/>
              </a:spcAft>
            </a:pPr>
            <a:r>
              <a:rPr sz="1800" b="0" i="0">
                <a:solidFill>
                  <a:srgbClr val="000000"/>
                </a:solidFill>
                <a:latin typeface="Times New Roman"/>
              </a:rPr>
              <a:t>•  AI-driven price prediction with a confidence score for every listing</a:t>
            </a:r>
          </a:p>
          <a:p>
            <a:pPr algn="l">
              <a:spcBef>
                <a:spcPts val="576"/>
              </a:spcBef>
              <a:spcAft>
                <a:spcPts val="0"/>
              </a:spcAft>
            </a:pPr>
            <a:r>
              <a:rPr sz="1800" b="0" i="0">
                <a:solidFill>
                  <a:srgbClr val="000000"/>
                </a:solidFill>
                <a:latin typeface="Times New Roman"/>
              </a:rPr>
              <a:t>•  Personalized recommendations for buyers and sellers alike</a:t>
            </a:r>
          </a:p>
          <a:p>
            <a:pPr algn="l">
              <a:spcBef>
                <a:spcPts val="576"/>
              </a:spcBef>
              <a:spcAft>
                <a:spcPts val="0"/>
              </a:spcAft>
            </a:pPr>
            <a:r>
              <a:rPr sz="1800" b="0" i="0">
                <a:solidFill>
                  <a:srgbClr val="000000"/>
                </a:solidFill>
                <a:latin typeface="Times New Roman"/>
              </a:rPr>
              <a:t>•  In-app messaging, mortgage calculator, and AI chatbot support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Scope</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4</a:t>
            </a:fld>
            <a:endParaRPr lang="en-US">
              <a:latin typeface="Times New Roman" panose="02020603050405020304" pitchFamily="18" charset="0"/>
              <a:cs typeface="Times New Roman" panose="02020603050405020304" pitchFamily="18" charset="0"/>
            </a:endParaRPr>
          </a:p>
        </p:txBody>
      </p:sp>
      <p:sp>
        <p:nvSpPr>
          <p:cNvPr id="5" name="TextBox 4"/>
          <p:cNvSpPr txBox="1"/>
          <p:nvPr/>
        </p:nvSpPr>
        <p:spPr>
          <a:xfrm>
            <a:off x="457200" y="1600200"/>
            <a:ext cx="3909060" cy="4525963"/>
          </a:xfrm>
          <a:prstGeom prst="rect">
            <a:avLst/>
          </a:prstGeom>
          <a:noFill/>
        </p:spPr>
        <p:txBody>
          <a:bodyPr wrap="square" lIns="0" tIns="0" rIns="0" bIns="0">
            <a:spAutoFit/>
          </a:bodyPr>
          <a:lstStyle/>
          <a:p>
            <a:pPr algn="l">
              <a:spcBef>
                <a:spcPts val="600"/>
              </a:spcBef>
              <a:spcAft>
                <a:spcPts val="0"/>
              </a:spcAft>
            </a:pPr>
            <a:r>
              <a:rPr sz="1700" b="1" i="0" dirty="0">
                <a:solidFill>
                  <a:srgbClr val="1F4E79"/>
                </a:solidFill>
                <a:latin typeface="Times New Roman"/>
              </a:rPr>
              <a:t>In Scope — What the system WILL do</a:t>
            </a:r>
          </a:p>
          <a:p>
            <a:pPr algn="l">
              <a:spcBef>
                <a:spcPts val="480"/>
              </a:spcBef>
              <a:spcAft>
                <a:spcPts val="0"/>
              </a:spcAft>
            </a:pPr>
            <a:r>
              <a:rPr sz="1500" b="0" i="0" dirty="0">
                <a:solidFill>
                  <a:srgbClr val="000000"/>
                </a:solidFill>
                <a:latin typeface="Times New Roman"/>
              </a:rPr>
              <a:t>•  Web application and mobile application (Android / iOS)</a:t>
            </a:r>
          </a:p>
          <a:p>
            <a:pPr algn="l">
              <a:spcBef>
                <a:spcPts val="480"/>
              </a:spcBef>
              <a:spcAft>
                <a:spcPts val="0"/>
              </a:spcAft>
            </a:pPr>
            <a:r>
              <a:rPr sz="1500" b="0" i="0" dirty="0">
                <a:solidFill>
                  <a:srgbClr val="000000"/>
                </a:solidFill>
                <a:latin typeface="Times New Roman"/>
              </a:rPr>
              <a:t>•  Property search with filters and map-based discovery</a:t>
            </a:r>
          </a:p>
          <a:p>
            <a:pPr algn="l">
              <a:spcBef>
                <a:spcPts val="480"/>
              </a:spcBef>
              <a:spcAft>
                <a:spcPts val="0"/>
              </a:spcAft>
            </a:pPr>
            <a:r>
              <a:rPr sz="1500" b="0" i="0" dirty="0">
                <a:solidFill>
                  <a:srgbClr val="000000"/>
                </a:solidFill>
                <a:latin typeface="Times New Roman"/>
              </a:rPr>
              <a:t>•  AI-based price prediction with a confidence range</a:t>
            </a:r>
          </a:p>
          <a:p>
            <a:pPr algn="l">
              <a:spcBef>
                <a:spcPts val="480"/>
              </a:spcBef>
              <a:spcAft>
                <a:spcPts val="0"/>
              </a:spcAft>
            </a:pPr>
            <a:r>
              <a:rPr sz="1500" b="0" i="0" dirty="0">
                <a:solidFill>
                  <a:srgbClr val="000000"/>
                </a:solidFill>
                <a:latin typeface="Times New Roman"/>
              </a:rPr>
              <a:t>•  Personalized AI recommendations for buyers &amp; sellers</a:t>
            </a:r>
          </a:p>
          <a:p>
            <a:pPr algn="l">
              <a:spcBef>
                <a:spcPts val="480"/>
              </a:spcBef>
              <a:spcAft>
                <a:spcPts val="0"/>
              </a:spcAft>
            </a:pPr>
            <a:r>
              <a:rPr sz="1500" b="0" i="0" dirty="0">
                <a:solidFill>
                  <a:srgbClr val="000000"/>
                </a:solidFill>
                <a:latin typeface="Times New Roman"/>
              </a:rPr>
              <a:t>•  Listing management, analytics, and legal-document upload</a:t>
            </a:r>
          </a:p>
          <a:p>
            <a:pPr algn="l">
              <a:spcBef>
                <a:spcPts val="480"/>
              </a:spcBef>
              <a:spcAft>
                <a:spcPts val="0"/>
              </a:spcAft>
            </a:pPr>
            <a:r>
              <a:rPr sz="1500" b="0" i="0" dirty="0">
                <a:solidFill>
                  <a:srgbClr val="000000"/>
                </a:solidFill>
                <a:latin typeface="Times New Roman"/>
              </a:rPr>
              <a:t>•  In-app messaging, mortgage calculator, and AI chatbot</a:t>
            </a:r>
          </a:p>
          <a:p>
            <a:pPr algn="l">
              <a:spcBef>
                <a:spcPts val="480"/>
              </a:spcBef>
              <a:spcAft>
                <a:spcPts val="0"/>
              </a:spcAft>
            </a:pPr>
            <a:r>
              <a:rPr sz="1500" b="0" i="0" dirty="0">
                <a:solidFill>
                  <a:srgbClr val="000000"/>
                </a:solidFill>
                <a:latin typeface="Times New Roman"/>
              </a:rPr>
              <a:t>•  Alerts / notifications and a role-based admin panel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Functional Requirements</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5</a:t>
            </a:fld>
            <a:endParaRPr lang="en-US">
              <a:latin typeface="Times New Roman" panose="02020603050405020304" pitchFamily="18" charset="0"/>
              <a:cs typeface="Times New Roman" panose="02020603050405020304" pitchFamily="18" charset="0"/>
            </a:endParaRPr>
          </a:p>
        </p:txBody>
      </p:sp>
      <p:sp>
        <p:nvSpPr>
          <p:cNvPr id="5" name="TextBox 4"/>
          <p:cNvSpPr txBox="1"/>
          <p:nvPr/>
        </p:nvSpPr>
        <p:spPr>
          <a:xfrm>
            <a:off x="457200" y="1600200"/>
            <a:ext cx="3931920" cy="4525963"/>
          </a:xfrm>
          <a:prstGeom prst="rect">
            <a:avLst/>
          </a:prstGeom>
          <a:noFill/>
        </p:spPr>
        <p:txBody>
          <a:bodyPr wrap="square" lIns="0" tIns="0" rIns="0" bIns="0">
            <a:spAutoFit/>
          </a:bodyPr>
          <a:lstStyle/>
          <a:p>
            <a:pPr algn="l">
              <a:lnSpc>
                <a:spcPct val="102000"/>
              </a:lnSpc>
              <a:spcBef>
                <a:spcPts val="0"/>
              </a:spcBef>
              <a:spcAft>
                <a:spcPts val="0"/>
              </a:spcAft>
            </a:pPr>
            <a:r>
              <a:rPr sz="1300" b="0" i="0" dirty="0">
                <a:solidFill>
                  <a:srgbClr val="000000"/>
                </a:solidFill>
                <a:latin typeface="Times New Roman"/>
              </a:rPr>
              <a:t>FR1. Users shall register/login with role-based access (Buyer, Seller, Agent, Admin) with email/phone verification.</a:t>
            </a:r>
          </a:p>
          <a:p>
            <a:pPr algn="l">
              <a:lnSpc>
                <a:spcPct val="102000"/>
              </a:lnSpc>
              <a:spcBef>
                <a:spcPts val="338"/>
              </a:spcBef>
              <a:spcAft>
                <a:spcPts val="0"/>
              </a:spcAft>
            </a:pPr>
            <a:r>
              <a:rPr sz="1300" b="0" i="0" dirty="0">
                <a:solidFill>
                  <a:srgbClr val="000000"/>
                </a:solidFill>
                <a:latin typeface="Times New Roman"/>
              </a:rPr>
              <a:t>FR2. Users shall search &amp; filter properties by location, price, area, bedrooms, and type, with map-based results.</a:t>
            </a:r>
          </a:p>
          <a:p>
            <a:pPr algn="l">
              <a:lnSpc>
                <a:spcPct val="102000"/>
              </a:lnSpc>
              <a:spcBef>
                <a:spcPts val="338"/>
              </a:spcBef>
              <a:spcAft>
                <a:spcPts val="0"/>
              </a:spcAft>
            </a:pPr>
            <a:r>
              <a:rPr sz="1300" b="0" i="0" dirty="0">
                <a:solidFill>
                  <a:srgbClr val="000000"/>
                </a:solidFill>
                <a:latin typeface="Times New Roman"/>
              </a:rPr>
              <a:t>FR3. The system shall generate an AI price prediction with a confidence score/range for any listed property.</a:t>
            </a:r>
          </a:p>
          <a:p>
            <a:pPr algn="l">
              <a:lnSpc>
                <a:spcPct val="102000"/>
              </a:lnSpc>
              <a:spcBef>
                <a:spcPts val="338"/>
              </a:spcBef>
              <a:spcAft>
                <a:spcPts val="0"/>
              </a:spcAft>
            </a:pPr>
            <a:r>
              <a:rPr sz="1300" b="0" i="0" dirty="0">
                <a:solidFill>
                  <a:srgbClr val="000000"/>
                </a:solidFill>
                <a:latin typeface="Times New Roman"/>
              </a:rPr>
              <a:t>FR4. The system shall flag listings as over-priced or </a:t>
            </a:r>
            <a:r>
              <a:rPr sz="1300" b="0" i="0" dirty="0" err="1">
                <a:solidFill>
                  <a:srgbClr val="000000"/>
                </a:solidFill>
                <a:latin typeface="Times New Roman"/>
              </a:rPr>
              <a:t>under-priced</a:t>
            </a:r>
            <a:r>
              <a:rPr sz="1300" b="0" i="0" dirty="0">
                <a:solidFill>
                  <a:srgbClr val="000000"/>
                </a:solidFill>
                <a:latin typeface="Times New Roman"/>
              </a:rPr>
              <a:t> relative to the AI estimate.</a:t>
            </a:r>
          </a:p>
          <a:p>
            <a:pPr algn="l">
              <a:lnSpc>
                <a:spcPct val="102000"/>
              </a:lnSpc>
              <a:spcBef>
                <a:spcPts val="338"/>
              </a:spcBef>
              <a:spcAft>
                <a:spcPts val="0"/>
              </a:spcAft>
            </a:pPr>
            <a:r>
              <a:rPr sz="1300" b="0" i="0" dirty="0">
                <a:solidFill>
                  <a:srgbClr val="000000"/>
                </a:solidFill>
                <a:latin typeface="Times New Roman"/>
              </a:rPr>
              <a:t>FR5. The system shall recommend personalized properties to buyers based on search &amp; browsing history.</a:t>
            </a:r>
          </a:p>
          <a:p>
            <a:pPr algn="l">
              <a:lnSpc>
                <a:spcPct val="102000"/>
              </a:lnSpc>
              <a:spcBef>
                <a:spcPts val="338"/>
              </a:spcBef>
              <a:spcAft>
                <a:spcPts val="0"/>
              </a:spcAft>
            </a:pPr>
            <a:r>
              <a:rPr sz="1300" b="0" i="0" dirty="0">
                <a:solidFill>
                  <a:srgbClr val="000000"/>
                </a:solidFill>
                <a:latin typeface="Times New Roman"/>
              </a:rPr>
              <a:t>FR6. The system shall suggest an optimal listing price and value-boosting improvements to sellers.</a:t>
            </a:r>
          </a:p>
          <a:p>
            <a:pPr algn="l">
              <a:lnSpc>
                <a:spcPct val="102000"/>
              </a:lnSpc>
              <a:spcBef>
                <a:spcPts val="338"/>
              </a:spcBef>
              <a:spcAft>
                <a:spcPts val="0"/>
              </a:spcAft>
            </a:pPr>
            <a:r>
              <a:rPr sz="1300" b="0" i="0" dirty="0">
                <a:solidFill>
                  <a:srgbClr val="000000"/>
                </a:solidFill>
                <a:latin typeface="Times New Roman"/>
              </a:rPr>
              <a:t>FR7. Sellers/Agents shall add, edit, and delete listings with photos, videos, and descriptions.</a:t>
            </a:r>
          </a:p>
          <a:p>
            <a:pPr algn="l">
              <a:lnSpc>
                <a:spcPct val="102000"/>
              </a:lnSpc>
              <a:spcBef>
                <a:spcPts val="338"/>
              </a:spcBef>
              <a:spcAft>
                <a:spcPts val="0"/>
              </a:spcAft>
            </a:pPr>
            <a:r>
              <a:rPr sz="1300" b="0" i="0" dirty="0">
                <a:solidFill>
                  <a:srgbClr val="000000"/>
                </a:solidFill>
                <a:latin typeface="Times New Roman"/>
              </a:rPr>
              <a:t>FR8. Buyers shall save favorites, schedule site visits, and message sellers/agents in-app.</a:t>
            </a:r>
          </a:p>
        </p:txBody>
      </p:sp>
      <p:sp>
        <p:nvSpPr>
          <p:cNvPr id="6" name="TextBox 5"/>
          <p:cNvSpPr txBox="1"/>
          <p:nvPr/>
        </p:nvSpPr>
        <p:spPr>
          <a:xfrm>
            <a:off x="4754880" y="1600200"/>
            <a:ext cx="3931920" cy="4525963"/>
          </a:xfrm>
          <a:prstGeom prst="rect">
            <a:avLst/>
          </a:prstGeom>
          <a:noFill/>
        </p:spPr>
        <p:txBody>
          <a:bodyPr wrap="square" lIns="0" tIns="0" rIns="0" bIns="0">
            <a:spAutoFit/>
          </a:bodyPr>
          <a:lstStyle/>
          <a:p>
            <a:pPr algn="l">
              <a:lnSpc>
                <a:spcPct val="102000"/>
              </a:lnSpc>
              <a:spcBef>
                <a:spcPts val="0"/>
              </a:spcBef>
              <a:spcAft>
                <a:spcPts val="0"/>
              </a:spcAft>
            </a:pPr>
            <a:r>
              <a:rPr sz="1300" b="0" i="0">
                <a:solidFill>
                  <a:srgbClr val="000000"/>
                </a:solidFill>
                <a:latin typeface="Times New Roman"/>
              </a:rPr>
              <a:t>FR9. The system shall provide an AI chatbot to assist with search, pricing, and mortgage queries.</a:t>
            </a:r>
          </a:p>
          <a:p>
            <a:pPr algn="l">
              <a:lnSpc>
                <a:spcPct val="102000"/>
              </a:lnSpc>
              <a:spcBef>
                <a:spcPts val="338"/>
              </a:spcBef>
              <a:spcAft>
                <a:spcPts val="0"/>
              </a:spcAft>
            </a:pPr>
            <a:r>
              <a:rPr sz="1300" b="0" i="0">
                <a:solidFill>
                  <a:srgbClr val="000000"/>
                </a:solidFill>
                <a:latin typeface="Times New Roman"/>
              </a:rPr>
              <a:t>FR10. The system shall calculate mortgage installments from loan amount, interest rate, and tenure.</a:t>
            </a:r>
          </a:p>
          <a:p>
            <a:pPr algn="l">
              <a:lnSpc>
                <a:spcPct val="102000"/>
              </a:lnSpc>
              <a:spcBef>
                <a:spcPts val="338"/>
              </a:spcBef>
              <a:spcAft>
                <a:spcPts val="0"/>
              </a:spcAft>
            </a:pPr>
            <a:r>
              <a:rPr sz="1300" b="0" i="0">
                <a:solidFill>
                  <a:srgbClr val="000000"/>
                </a:solidFill>
                <a:latin typeface="Times New Roman"/>
              </a:rPr>
              <a:t>FR11. The system shall send alerts for price drops, new matching listings, and visit reminders.</a:t>
            </a:r>
          </a:p>
          <a:p>
            <a:pPr algn="l">
              <a:lnSpc>
                <a:spcPct val="102000"/>
              </a:lnSpc>
              <a:spcBef>
                <a:spcPts val="338"/>
              </a:spcBef>
              <a:spcAft>
                <a:spcPts val="0"/>
              </a:spcAft>
            </a:pPr>
            <a:r>
              <a:rPr sz="1300" b="0" i="0">
                <a:solidFill>
                  <a:srgbClr val="000000"/>
                </a:solidFill>
                <a:latin typeface="Times New Roman"/>
              </a:rPr>
              <a:t>FR12. Sellers/Agents shall view listing analytics such as views, inquiries, and leads.</a:t>
            </a:r>
          </a:p>
          <a:p>
            <a:pPr algn="l">
              <a:lnSpc>
                <a:spcPct val="102000"/>
              </a:lnSpc>
              <a:spcBef>
                <a:spcPts val="338"/>
              </a:spcBef>
              <a:spcAft>
                <a:spcPts val="0"/>
              </a:spcAft>
            </a:pPr>
            <a:r>
              <a:rPr sz="1300" b="0" i="0">
                <a:solidFill>
                  <a:srgbClr val="000000"/>
                </a:solidFill>
                <a:latin typeface="Times New Roman"/>
              </a:rPr>
              <a:t>FR13. Admins shall approve/reject listings and manage reported content and user accounts.</a:t>
            </a:r>
          </a:p>
          <a:p>
            <a:pPr algn="l">
              <a:lnSpc>
                <a:spcPct val="102000"/>
              </a:lnSpc>
              <a:spcBef>
                <a:spcPts val="338"/>
              </a:spcBef>
              <a:spcAft>
                <a:spcPts val="0"/>
              </a:spcAft>
            </a:pPr>
            <a:r>
              <a:rPr sz="1300" b="0" i="0">
                <a:solidFill>
                  <a:srgbClr val="000000"/>
                </a:solidFill>
                <a:latin typeface="Times New Roman"/>
              </a:rPr>
              <a:t>FR14. Users shall upload and track legal documents (ownership proof, NOC) for a property.</a:t>
            </a:r>
          </a:p>
          <a:p>
            <a:pPr algn="l">
              <a:lnSpc>
                <a:spcPct val="102000"/>
              </a:lnSpc>
              <a:spcBef>
                <a:spcPts val="338"/>
              </a:spcBef>
              <a:spcAft>
                <a:spcPts val="0"/>
              </a:spcAft>
            </a:pPr>
            <a:r>
              <a:rPr sz="1300" b="0" i="0">
                <a:solidFill>
                  <a:srgbClr val="000000"/>
                </a:solidFill>
                <a:latin typeface="Times New Roman"/>
              </a:rPr>
              <a:t>FR15. The system shall display location-intelligence price-trend heatmaps by area.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Non-Functional Requirements</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6</a:t>
            </a:fld>
            <a:endParaRPr lang="en-US">
              <a:latin typeface="Times New Roman" panose="02020603050405020304" pitchFamily="18" charset="0"/>
              <a:cs typeface="Times New Roman" panose="02020603050405020304" pitchFamily="18" charset="0"/>
            </a:endParaRPr>
          </a:p>
        </p:txBody>
      </p:sp>
      <p:sp>
        <p:nvSpPr>
          <p:cNvPr id="5" name="TextBox 4"/>
          <p:cNvSpPr txBox="1"/>
          <p:nvPr/>
        </p:nvSpPr>
        <p:spPr>
          <a:xfrm>
            <a:off x="457200" y="1600200"/>
            <a:ext cx="3931920" cy="4525963"/>
          </a:xfrm>
          <a:prstGeom prst="rect">
            <a:avLst/>
          </a:prstGeom>
          <a:noFill/>
        </p:spPr>
        <p:txBody>
          <a:bodyPr wrap="square" lIns="0" tIns="0" rIns="0" bIns="0">
            <a:spAutoFit/>
          </a:bodyPr>
          <a:lstStyle/>
          <a:p>
            <a:pPr>
              <a:lnSpc>
                <a:spcPct val="105000"/>
              </a:lnSpc>
              <a:spcBef>
                <a:spcPts val="0"/>
              </a:spcBef>
            </a:pPr>
            <a:r>
              <a:rPr sz="1700" b="1">
                <a:solidFill>
                  <a:srgbClr val="1F4E79"/>
                </a:solidFill>
                <a:latin typeface="Times New Roman"/>
              </a:rPr>
              <a:t>Performance:  </a:t>
            </a:r>
            <a:r>
              <a:rPr sz="1700">
                <a:solidFill>
                  <a:srgbClr val="000000"/>
                </a:solidFill>
                <a:latin typeface="Times New Roman"/>
              </a:rPr>
              <a:t>Search results and AI price predictions shall return within 3 seconds under normal load.</a:t>
            </a:r>
          </a:p>
          <a:p>
            <a:pPr>
              <a:lnSpc>
                <a:spcPct val="105000"/>
              </a:lnSpc>
              <a:spcBef>
                <a:spcPts val="509"/>
              </a:spcBef>
            </a:pPr>
            <a:r>
              <a:rPr sz="1700" b="1">
                <a:solidFill>
                  <a:srgbClr val="1F4E79"/>
                </a:solidFill>
                <a:latin typeface="Times New Roman"/>
              </a:rPr>
              <a:t>Scalability:  </a:t>
            </a:r>
            <a:r>
              <a:rPr sz="1700">
                <a:solidFill>
                  <a:srgbClr val="000000"/>
                </a:solidFill>
                <a:latin typeface="Times New Roman"/>
              </a:rPr>
              <a:t>The architecture (microservices + cloud) shall scale to 100,000+ concurrent users.</a:t>
            </a:r>
          </a:p>
          <a:p>
            <a:pPr>
              <a:lnSpc>
                <a:spcPct val="105000"/>
              </a:lnSpc>
              <a:spcBef>
                <a:spcPts val="509"/>
              </a:spcBef>
            </a:pPr>
            <a:r>
              <a:rPr sz="1700" b="1">
                <a:solidFill>
                  <a:srgbClr val="1F4E79"/>
                </a:solidFill>
                <a:latin typeface="Times New Roman"/>
              </a:rPr>
              <a:t>Security:  </a:t>
            </a:r>
            <a:r>
              <a:rPr sz="1700">
                <a:solidFill>
                  <a:srgbClr val="000000"/>
                </a:solidFill>
                <a:latin typeface="Times New Roman"/>
              </a:rPr>
              <a:t>User data and transactions shall be protected via TLS encryption and role-based access control.</a:t>
            </a:r>
          </a:p>
          <a:p>
            <a:pPr>
              <a:lnSpc>
                <a:spcPct val="105000"/>
              </a:lnSpc>
              <a:spcBef>
                <a:spcPts val="509"/>
              </a:spcBef>
            </a:pPr>
            <a:r>
              <a:rPr sz="1700" b="1">
                <a:solidFill>
                  <a:srgbClr val="1F4E79"/>
                </a:solidFill>
                <a:latin typeface="Times New Roman"/>
              </a:rPr>
              <a:t>Availability:  </a:t>
            </a:r>
            <a:r>
              <a:rPr sz="1700">
                <a:solidFill>
                  <a:srgbClr val="000000"/>
                </a:solidFill>
                <a:latin typeface="Times New Roman"/>
              </a:rPr>
              <a:t>The platform shall maintain 99.5% uptime, hosted on AWS/Google Cloud with auto-scaling.</a:t>
            </a:r>
          </a:p>
        </p:txBody>
      </p:sp>
      <p:sp>
        <p:nvSpPr>
          <p:cNvPr id="6" name="TextBox 5"/>
          <p:cNvSpPr txBox="1"/>
          <p:nvPr/>
        </p:nvSpPr>
        <p:spPr>
          <a:xfrm>
            <a:off x="4754880" y="1600200"/>
            <a:ext cx="3931920" cy="4525963"/>
          </a:xfrm>
          <a:prstGeom prst="rect">
            <a:avLst/>
          </a:prstGeom>
          <a:noFill/>
        </p:spPr>
        <p:txBody>
          <a:bodyPr wrap="square" lIns="0" tIns="0" rIns="0" bIns="0">
            <a:spAutoFit/>
          </a:bodyPr>
          <a:lstStyle/>
          <a:p>
            <a:pPr>
              <a:lnSpc>
                <a:spcPct val="105000"/>
              </a:lnSpc>
              <a:spcBef>
                <a:spcPts val="0"/>
              </a:spcBef>
            </a:pPr>
            <a:r>
              <a:rPr sz="1700" b="1">
                <a:solidFill>
                  <a:srgbClr val="1F4E79"/>
                </a:solidFill>
                <a:latin typeface="Times New Roman"/>
              </a:rPr>
              <a:t>Usability:  </a:t>
            </a:r>
            <a:r>
              <a:rPr sz="1700">
                <a:solidFill>
                  <a:srgbClr val="000000"/>
                </a:solidFill>
                <a:latin typeface="Times New Roman"/>
              </a:rPr>
              <a:t>The UI shall be intuitive, require no training, and be responsive across phones, tablets, and PCs.</a:t>
            </a:r>
          </a:p>
          <a:p>
            <a:pPr>
              <a:lnSpc>
                <a:spcPct val="105000"/>
              </a:lnSpc>
              <a:spcBef>
                <a:spcPts val="509"/>
              </a:spcBef>
            </a:pPr>
            <a:r>
              <a:rPr sz="1700" b="1">
                <a:solidFill>
                  <a:srgbClr val="1F4E79"/>
                </a:solidFill>
                <a:latin typeface="Times New Roman"/>
              </a:rPr>
              <a:t>Reliability:  </a:t>
            </a:r>
            <a:r>
              <a:rPr sz="1700">
                <a:solidFill>
                  <a:srgbClr val="000000"/>
                </a:solidFill>
                <a:latin typeface="Times New Roman"/>
              </a:rPr>
              <a:t>Every AI prediction shall include a confidence score so users can judge its trustworthiness.</a:t>
            </a:r>
          </a:p>
          <a:p>
            <a:pPr>
              <a:lnSpc>
                <a:spcPct val="105000"/>
              </a:lnSpc>
              <a:spcBef>
                <a:spcPts val="509"/>
              </a:spcBef>
            </a:pPr>
            <a:r>
              <a:rPr sz="1700" b="1">
                <a:solidFill>
                  <a:srgbClr val="1F4E79"/>
                </a:solidFill>
                <a:latin typeface="Times New Roman"/>
              </a:rPr>
              <a:t>Maintainability:  </a:t>
            </a:r>
            <a:r>
              <a:rPr sz="1700">
                <a:solidFill>
                  <a:srgbClr val="000000"/>
                </a:solidFill>
                <a:latin typeface="Times New Roman"/>
              </a:rPr>
              <a:t>Modular microservices shall allow independent updates, testing, and bug fixes.</a:t>
            </a:r>
          </a:p>
          <a:p>
            <a:pPr>
              <a:lnSpc>
                <a:spcPct val="105000"/>
              </a:lnSpc>
              <a:spcBef>
                <a:spcPts val="509"/>
              </a:spcBef>
            </a:pPr>
            <a:r>
              <a:rPr sz="1700" b="1">
                <a:solidFill>
                  <a:srgbClr val="1F4E79"/>
                </a:solidFill>
                <a:latin typeface="Times New Roman"/>
              </a:rPr>
              <a:t>Compatibility:  </a:t>
            </a:r>
            <a:r>
              <a:rPr sz="1700">
                <a:solidFill>
                  <a:srgbClr val="000000"/>
                </a:solidFill>
                <a:latin typeface="Times New Roman"/>
              </a:rPr>
              <a:t>The mobile app shall run on Android &amp; iOS; the web app on all major browsers.</a:t>
            </a:r>
          </a:p>
          <a:p>
            <a:pPr>
              <a:lnSpc>
                <a:spcPct val="105000"/>
              </a:lnSpc>
              <a:spcBef>
                <a:spcPts val="509"/>
              </a:spcBef>
            </a:pPr>
            <a:r>
              <a:rPr sz="1700" b="1">
                <a:solidFill>
                  <a:srgbClr val="1F4E79"/>
                </a:solidFill>
                <a:latin typeface="Times New Roman"/>
              </a:rPr>
              <a:t>Localization:  </a:t>
            </a:r>
            <a:r>
              <a:rPr sz="1700">
                <a:solidFill>
                  <a:srgbClr val="000000"/>
                </a:solidFill>
                <a:latin typeface="Times New Roman"/>
              </a:rPr>
              <a:t>The system shall support English, Urdu, and regional languages.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User Goals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7</a:t>
            </a:fld>
            <a:endParaRPr lang="en-US">
              <a:latin typeface="Times New Roman" panose="02020603050405020304" pitchFamily="18" charset="0"/>
              <a:cs typeface="Times New Roman" panose="02020603050405020304" pitchFamily="18" charset="0"/>
            </a:endParaRPr>
          </a:p>
        </p:txBody>
      </p:sp>
      <p:sp>
        <p:nvSpPr>
          <p:cNvPr id="5" name="TextBox 4"/>
          <p:cNvSpPr txBox="1"/>
          <p:nvPr/>
        </p:nvSpPr>
        <p:spPr>
          <a:xfrm>
            <a:off x="457200" y="1600200"/>
            <a:ext cx="2548128" cy="4525963"/>
          </a:xfrm>
          <a:prstGeom prst="rect">
            <a:avLst/>
          </a:prstGeom>
          <a:noFill/>
        </p:spPr>
        <p:txBody>
          <a:bodyPr wrap="square" lIns="0" tIns="0" rIns="0" bIns="0">
            <a:spAutoFit/>
          </a:bodyPr>
          <a:lstStyle/>
          <a:p>
            <a:pPr algn="l">
              <a:lnSpc>
                <a:spcPct val="102000"/>
              </a:lnSpc>
              <a:spcBef>
                <a:spcPts val="600"/>
              </a:spcBef>
              <a:spcAft>
                <a:spcPts val="0"/>
              </a:spcAft>
            </a:pPr>
            <a:r>
              <a:rPr sz="1600" b="1" i="0">
                <a:solidFill>
                  <a:srgbClr val="1F4E79"/>
                </a:solidFill>
                <a:latin typeface="Times New Roman"/>
              </a:rPr>
              <a:t>As a Buyer, I want to…</a:t>
            </a:r>
          </a:p>
          <a:p>
            <a:pPr algn="l">
              <a:lnSpc>
                <a:spcPct val="102000"/>
              </a:lnSpc>
              <a:spcBef>
                <a:spcPts val="544"/>
              </a:spcBef>
              <a:spcAft>
                <a:spcPts val="0"/>
              </a:spcAft>
            </a:pPr>
            <a:r>
              <a:rPr sz="1600" b="0" i="0">
                <a:solidFill>
                  <a:srgbClr val="000000"/>
                </a:solidFill>
                <a:latin typeface="Times New Roman"/>
              </a:rPr>
              <a:t>•  Find the right property quickly using smart filters &amp; map search</a:t>
            </a:r>
          </a:p>
          <a:p>
            <a:pPr algn="l">
              <a:lnSpc>
                <a:spcPct val="102000"/>
              </a:lnSpc>
              <a:spcBef>
                <a:spcPts val="544"/>
              </a:spcBef>
              <a:spcAft>
                <a:spcPts val="0"/>
              </a:spcAft>
            </a:pPr>
            <a:r>
              <a:rPr sz="1600" b="0" i="0">
                <a:solidFill>
                  <a:srgbClr val="000000"/>
                </a:solidFill>
                <a:latin typeface="Times New Roman"/>
              </a:rPr>
              <a:t>•  Know a fair price before making an offer</a:t>
            </a:r>
          </a:p>
          <a:p>
            <a:pPr algn="l">
              <a:lnSpc>
                <a:spcPct val="102000"/>
              </a:lnSpc>
              <a:spcBef>
                <a:spcPts val="544"/>
              </a:spcBef>
              <a:spcAft>
                <a:spcPts val="0"/>
              </a:spcAft>
            </a:pPr>
            <a:r>
              <a:rPr sz="1600" b="0" i="0">
                <a:solidFill>
                  <a:srgbClr val="000000"/>
                </a:solidFill>
                <a:latin typeface="Times New Roman"/>
              </a:rPr>
              <a:t>•  Get personalized recommendations that match preferences</a:t>
            </a:r>
          </a:p>
          <a:p>
            <a:pPr algn="l">
              <a:lnSpc>
                <a:spcPct val="102000"/>
              </a:lnSpc>
              <a:spcBef>
                <a:spcPts val="544"/>
              </a:spcBef>
              <a:spcAft>
                <a:spcPts val="0"/>
              </a:spcAft>
            </a:pPr>
            <a:r>
              <a:rPr sz="1600" b="0" i="0">
                <a:solidFill>
                  <a:srgbClr val="000000"/>
                </a:solidFill>
                <a:latin typeface="Times New Roman"/>
              </a:rPr>
              <a:t>•  Communicate easily with sellers/agents and schedule visits</a:t>
            </a:r>
          </a:p>
          <a:p>
            <a:pPr algn="l">
              <a:lnSpc>
                <a:spcPct val="102000"/>
              </a:lnSpc>
              <a:spcBef>
                <a:spcPts val="544"/>
              </a:spcBef>
              <a:spcAft>
                <a:spcPts val="0"/>
              </a:spcAft>
            </a:pPr>
            <a:r>
              <a:rPr sz="1600" b="0" i="0">
                <a:solidFill>
                  <a:srgbClr val="000000"/>
                </a:solidFill>
                <a:latin typeface="Times New Roman"/>
              </a:rPr>
              <a:t>•  Estimate affordability via the mortgage calculator</a:t>
            </a:r>
          </a:p>
        </p:txBody>
      </p:sp>
      <p:sp>
        <p:nvSpPr>
          <p:cNvPr id="6" name="TextBox 5"/>
          <p:cNvSpPr txBox="1"/>
          <p:nvPr/>
        </p:nvSpPr>
        <p:spPr>
          <a:xfrm>
            <a:off x="3297936" y="1600200"/>
            <a:ext cx="2548128" cy="4525963"/>
          </a:xfrm>
          <a:prstGeom prst="rect">
            <a:avLst/>
          </a:prstGeom>
          <a:noFill/>
        </p:spPr>
        <p:txBody>
          <a:bodyPr wrap="square" lIns="0" tIns="0" rIns="0" bIns="0">
            <a:spAutoFit/>
          </a:bodyPr>
          <a:lstStyle/>
          <a:p>
            <a:pPr algn="l">
              <a:lnSpc>
                <a:spcPct val="102000"/>
              </a:lnSpc>
              <a:spcBef>
                <a:spcPts val="600"/>
              </a:spcBef>
              <a:spcAft>
                <a:spcPts val="0"/>
              </a:spcAft>
            </a:pPr>
            <a:r>
              <a:rPr sz="1600" b="1" i="0">
                <a:solidFill>
                  <a:srgbClr val="1F4E79"/>
                </a:solidFill>
                <a:latin typeface="Times New Roman"/>
              </a:rPr>
              <a:t>As a Seller/Agent, I want to…</a:t>
            </a:r>
          </a:p>
          <a:p>
            <a:pPr algn="l">
              <a:lnSpc>
                <a:spcPct val="102000"/>
              </a:lnSpc>
              <a:spcBef>
                <a:spcPts val="544"/>
              </a:spcBef>
              <a:spcAft>
                <a:spcPts val="0"/>
              </a:spcAft>
            </a:pPr>
            <a:r>
              <a:rPr sz="1600" b="0" i="0">
                <a:solidFill>
                  <a:srgbClr val="000000"/>
                </a:solidFill>
                <a:latin typeface="Times New Roman"/>
              </a:rPr>
              <a:t>•  List a property quickly with rich media and details</a:t>
            </a:r>
          </a:p>
          <a:p>
            <a:pPr algn="l">
              <a:lnSpc>
                <a:spcPct val="102000"/>
              </a:lnSpc>
              <a:spcBef>
                <a:spcPts val="544"/>
              </a:spcBef>
              <a:spcAft>
                <a:spcPts val="0"/>
              </a:spcAft>
            </a:pPr>
            <a:r>
              <a:rPr sz="1600" b="0" i="0">
                <a:solidFill>
                  <a:srgbClr val="000000"/>
                </a:solidFill>
                <a:latin typeface="Times New Roman"/>
              </a:rPr>
              <a:t>•  Price the property optimally using AI suggestions</a:t>
            </a:r>
          </a:p>
          <a:p>
            <a:pPr algn="l">
              <a:lnSpc>
                <a:spcPct val="102000"/>
              </a:lnSpc>
              <a:spcBef>
                <a:spcPts val="544"/>
              </a:spcBef>
              <a:spcAft>
                <a:spcPts val="0"/>
              </a:spcAft>
            </a:pPr>
            <a:r>
              <a:rPr sz="1600" b="0" i="0">
                <a:solidFill>
                  <a:srgbClr val="000000"/>
                </a:solidFill>
                <a:latin typeface="Times New Roman"/>
              </a:rPr>
              <a:t>•  Track views, leads, and inquiries via analytics</a:t>
            </a:r>
          </a:p>
          <a:p>
            <a:pPr algn="l">
              <a:lnSpc>
                <a:spcPct val="102000"/>
              </a:lnSpc>
              <a:spcBef>
                <a:spcPts val="544"/>
              </a:spcBef>
              <a:spcAft>
                <a:spcPts val="0"/>
              </a:spcAft>
            </a:pPr>
            <a:r>
              <a:rPr sz="1600" b="0" i="0">
                <a:solidFill>
                  <a:srgbClr val="000000"/>
                </a:solidFill>
                <a:latin typeface="Times New Roman"/>
              </a:rPr>
              <a:t>•  Build trust through a verified profile and badges</a:t>
            </a:r>
          </a:p>
        </p:txBody>
      </p:sp>
      <p:sp>
        <p:nvSpPr>
          <p:cNvPr id="7" name="TextBox 6"/>
          <p:cNvSpPr txBox="1"/>
          <p:nvPr/>
        </p:nvSpPr>
        <p:spPr>
          <a:xfrm>
            <a:off x="6138672" y="1600200"/>
            <a:ext cx="2548128" cy="4525963"/>
          </a:xfrm>
          <a:prstGeom prst="rect">
            <a:avLst/>
          </a:prstGeom>
          <a:noFill/>
        </p:spPr>
        <p:txBody>
          <a:bodyPr wrap="square" lIns="0" tIns="0" rIns="0" bIns="0">
            <a:spAutoFit/>
          </a:bodyPr>
          <a:lstStyle/>
          <a:p>
            <a:pPr algn="l">
              <a:lnSpc>
                <a:spcPct val="102000"/>
              </a:lnSpc>
              <a:spcBef>
                <a:spcPts val="600"/>
              </a:spcBef>
              <a:spcAft>
                <a:spcPts val="0"/>
              </a:spcAft>
            </a:pPr>
            <a:r>
              <a:rPr sz="1600" b="1" i="0">
                <a:solidFill>
                  <a:srgbClr val="1F4E79"/>
                </a:solidFill>
                <a:latin typeface="Times New Roman"/>
              </a:rPr>
              <a:t>As an Admin, I want to…</a:t>
            </a:r>
          </a:p>
          <a:p>
            <a:pPr algn="l">
              <a:lnSpc>
                <a:spcPct val="102000"/>
              </a:lnSpc>
              <a:spcBef>
                <a:spcPts val="544"/>
              </a:spcBef>
              <a:spcAft>
                <a:spcPts val="0"/>
              </a:spcAft>
            </a:pPr>
            <a:r>
              <a:rPr sz="1600" b="0" i="0">
                <a:solidFill>
                  <a:srgbClr val="000000"/>
                </a:solidFill>
                <a:latin typeface="Times New Roman"/>
              </a:rPr>
              <a:t>•  Maintain listing quality via approval &amp; moderation</a:t>
            </a:r>
          </a:p>
          <a:p>
            <a:pPr algn="l">
              <a:lnSpc>
                <a:spcPct val="102000"/>
              </a:lnSpc>
              <a:spcBef>
                <a:spcPts val="544"/>
              </a:spcBef>
              <a:spcAft>
                <a:spcPts val="0"/>
              </a:spcAft>
            </a:pPr>
            <a:r>
              <a:rPr sz="1600" b="0" i="0">
                <a:solidFill>
                  <a:srgbClr val="000000"/>
                </a:solidFill>
                <a:latin typeface="Times New Roman"/>
              </a:rPr>
              <a:t>•  Monitor platform health and user activity</a:t>
            </a:r>
          </a:p>
          <a:p>
            <a:pPr algn="l">
              <a:lnSpc>
                <a:spcPct val="102000"/>
              </a:lnSpc>
              <a:spcBef>
                <a:spcPts val="544"/>
              </a:spcBef>
              <a:spcAft>
                <a:spcPts val="0"/>
              </a:spcAft>
            </a:pPr>
            <a:r>
              <a:rPr sz="1600" b="0" i="0">
                <a:solidFill>
                  <a:srgbClr val="000000"/>
                </a:solidFill>
                <a:latin typeface="Times New Roman"/>
              </a:rPr>
              <a:t>•  Handle reported content and spam quickly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Use Cases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8</a:t>
            </a:fld>
            <a:endParaRPr lang="en-US">
              <a:latin typeface="Times New Roman" panose="02020603050405020304" pitchFamily="18" charset="0"/>
              <a:cs typeface="Times New Roman" panose="02020603050405020304" pitchFamily="18" charset="0"/>
            </a:endParaRPr>
          </a:p>
        </p:txBody>
      </p:sp>
      <p:sp>
        <p:nvSpPr>
          <p:cNvPr id="5" name="TextBox 4"/>
          <p:cNvSpPr txBox="1"/>
          <p:nvPr/>
        </p:nvSpPr>
        <p:spPr>
          <a:xfrm>
            <a:off x="457200" y="1600200"/>
            <a:ext cx="2548128" cy="4525963"/>
          </a:xfrm>
          <a:prstGeom prst="rect">
            <a:avLst/>
          </a:prstGeom>
          <a:noFill/>
        </p:spPr>
        <p:txBody>
          <a:bodyPr wrap="square" lIns="0" tIns="0" rIns="0" bIns="0">
            <a:spAutoFit/>
          </a:bodyPr>
          <a:lstStyle/>
          <a:p>
            <a:pPr algn="l">
              <a:lnSpc>
                <a:spcPct val="102000"/>
              </a:lnSpc>
              <a:spcBef>
                <a:spcPts val="600"/>
              </a:spcBef>
              <a:spcAft>
                <a:spcPts val="0"/>
              </a:spcAft>
            </a:pPr>
            <a:r>
              <a:rPr sz="1700" b="1" i="0">
                <a:solidFill>
                  <a:srgbClr val="1F4E79"/>
                </a:solidFill>
                <a:latin typeface="Times New Roman"/>
              </a:rPr>
              <a:t>Buyer</a:t>
            </a:r>
          </a:p>
          <a:p>
            <a:pPr algn="l">
              <a:lnSpc>
                <a:spcPct val="102000"/>
              </a:lnSpc>
              <a:spcBef>
                <a:spcPts val="420"/>
              </a:spcBef>
              <a:spcAft>
                <a:spcPts val="0"/>
              </a:spcAft>
            </a:pPr>
            <a:r>
              <a:rPr sz="1500" b="0" i="0">
                <a:solidFill>
                  <a:srgbClr val="000000"/>
                </a:solidFill>
                <a:latin typeface="Times New Roman"/>
              </a:rPr>
              <a:t>1. Register &amp; Login</a:t>
            </a:r>
          </a:p>
          <a:p>
            <a:pPr algn="l">
              <a:lnSpc>
                <a:spcPct val="102000"/>
              </a:lnSpc>
              <a:spcBef>
                <a:spcPts val="420"/>
              </a:spcBef>
              <a:spcAft>
                <a:spcPts val="0"/>
              </a:spcAft>
            </a:pPr>
            <a:r>
              <a:rPr sz="1500" b="0" i="0">
                <a:solidFill>
                  <a:srgbClr val="000000"/>
                </a:solidFill>
                <a:latin typeface="Times New Roman"/>
              </a:rPr>
              <a:t>2. Search &amp; Filter Properties</a:t>
            </a:r>
          </a:p>
          <a:p>
            <a:pPr algn="l">
              <a:lnSpc>
                <a:spcPct val="102000"/>
              </a:lnSpc>
              <a:spcBef>
                <a:spcPts val="420"/>
              </a:spcBef>
              <a:spcAft>
                <a:spcPts val="0"/>
              </a:spcAft>
            </a:pPr>
            <a:r>
              <a:rPr sz="1500" b="0" i="0">
                <a:solidFill>
                  <a:srgbClr val="000000"/>
                </a:solidFill>
                <a:latin typeface="Times New Roman"/>
              </a:rPr>
              <a:t>3. View Map &amp; Nearby Places</a:t>
            </a:r>
          </a:p>
          <a:p>
            <a:pPr algn="l">
              <a:lnSpc>
                <a:spcPct val="102000"/>
              </a:lnSpc>
              <a:spcBef>
                <a:spcPts val="420"/>
              </a:spcBef>
              <a:spcAft>
                <a:spcPts val="0"/>
              </a:spcAft>
            </a:pPr>
            <a:r>
              <a:rPr sz="1500" b="0" i="0">
                <a:solidFill>
                  <a:srgbClr val="000000"/>
                </a:solidFill>
                <a:latin typeface="Times New Roman"/>
              </a:rPr>
              <a:t>4. View Property Detail Page</a:t>
            </a:r>
          </a:p>
          <a:p>
            <a:pPr algn="l">
              <a:lnSpc>
                <a:spcPct val="102000"/>
              </a:lnSpc>
              <a:spcBef>
                <a:spcPts val="420"/>
              </a:spcBef>
              <a:spcAft>
                <a:spcPts val="0"/>
              </a:spcAft>
            </a:pPr>
            <a:r>
              <a:rPr sz="1500" b="0" i="0">
                <a:solidFill>
                  <a:srgbClr val="000000"/>
                </a:solidFill>
                <a:latin typeface="Times New Roman"/>
              </a:rPr>
              <a:t>5. Get AI Price Prediction</a:t>
            </a:r>
          </a:p>
          <a:p>
            <a:pPr algn="l">
              <a:lnSpc>
                <a:spcPct val="102000"/>
              </a:lnSpc>
              <a:spcBef>
                <a:spcPts val="420"/>
              </a:spcBef>
              <a:spcAft>
                <a:spcPts val="0"/>
              </a:spcAft>
            </a:pPr>
            <a:r>
              <a:rPr sz="1500" b="0" i="0">
                <a:solidFill>
                  <a:srgbClr val="000000"/>
                </a:solidFill>
                <a:latin typeface="Times New Roman"/>
              </a:rPr>
              <a:t>6. View Personalized Recommendations</a:t>
            </a:r>
          </a:p>
          <a:p>
            <a:pPr algn="l">
              <a:lnSpc>
                <a:spcPct val="102000"/>
              </a:lnSpc>
              <a:spcBef>
                <a:spcPts val="420"/>
              </a:spcBef>
              <a:spcAft>
                <a:spcPts val="0"/>
              </a:spcAft>
            </a:pPr>
            <a:r>
              <a:rPr sz="1500" b="0" i="0">
                <a:solidFill>
                  <a:srgbClr val="000000"/>
                </a:solidFill>
                <a:latin typeface="Times New Roman"/>
              </a:rPr>
              <a:t>7. Save Favorite Properties</a:t>
            </a:r>
          </a:p>
          <a:p>
            <a:pPr algn="l">
              <a:lnSpc>
                <a:spcPct val="102000"/>
              </a:lnSpc>
              <a:spcBef>
                <a:spcPts val="420"/>
              </a:spcBef>
              <a:spcAft>
                <a:spcPts val="0"/>
              </a:spcAft>
            </a:pPr>
            <a:r>
              <a:rPr sz="1500" b="0" i="0">
                <a:solidFill>
                  <a:srgbClr val="000000"/>
                </a:solidFill>
                <a:latin typeface="Times New Roman"/>
              </a:rPr>
              <a:t>8. Schedule Site Visit</a:t>
            </a:r>
          </a:p>
          <a:p>
            <a:pPr algn="l">
              <a:lnSpc>
                <a:spcPct val="102000"/>
              </a:lnSpc>
              <a:spcBef>
                <a:spcPts val="420"/>
              </a:spcBef>
              <a:spcAft>
                <a:spcPts val="0"/>
              </a:spcAft>
            </a:pPr>
            <a:r>
              <a:rPr sz="1500" b="0" i="0">
                <a:solidFill>
                  <a:srgbClr val="000000"/>
                </a:solidFill>
                <a:latin typeface="Times New Roman"/>
              </a:rPr>
              <a:t>9. Chat with Seller/Agent</a:t>
            </a:r>
          </a:p>
          <a:p>
            <a:pPr algn="l">
              <a:lnSpc>
                <a:spcPct val="102000"/>
              </a:lnSpc>
              <a:spcBef>
                <a:spcPts val="420"/>
              </a:spcBef>
              <a:spcAft>
                <a:spcPts val="0"/>
              </a:spcAft>
            </a:pPr>
            <a:r>
              <a:rPr sz="1500" b="0" i="0">
                <a:solidFill>
                  <a:srgbClr val="000000"/>
                </a:solidFill>
                <a:latin typeface="Times New Roman"/>
              </a:rPr>
              <a:t>10. Use AI Chatbot Assistant</a:t>
            </a:r>
          </a:p>
          <a:p>
            <a:pPr algn="l">
              <a:lnSpc>
                <a:spcPct val="102000"/>
              </a:lnSpc>
              <a:spcBef>
                <a:spcPts val="420"/>
              </a:spcBef>
              <a:spcAft>
                <a:spcPts val="0"/>
              </a:spcAft>
            </a:pPr>
            <a:r>
              <a:rPr sz="1500" b="0" i="0">
                <a:solidFill>
                  <a:srgbClr val="000000"/>
                </a:solidFill>
                <a:latin typeface="Times New Roman"/>
              </a:rPr>
              <a:t>11. Calculate Mortgage</a:t>
            </a:r>
          </a:p>
          <a:p>
            <a:pPr algn="l">
              <a:lnSpc>
                <a:spcPct val="102000"/>
              </a:lnSpc>
              <a:spcBef>
                <a:spcPts val="420"/>
              </a:spcBef>
              <a:spcAft>
                <a:spcPts val="0"/>
              </a:spcAft>
            </a:pPr>
            <a:r>
              <a:rPr sz="1500" b="0" i="0">
                <a:solidFill>
                  <a:srgbClr val="000000"/>
                </a:solidFill>
                <a:latin typeface="Times New Roman"/>
              </a:rPr>
              <a:t>12. Receive Alerts &amp; Notifications</a:t>
            </a:r>
          </a:p>
        </p:txBody>
      </p:sp>
      <p:sp>
        <p:nvSpPr>
          <p:cNvPr id="6" name="TextBox 5"/>
          <p:cNvSpPr txBox="1"/>
          <p:nvPr/>
        </p:nvSpPr>
        <p:spPr>
          <a:xfrm>
            <a:off x="3297936" y="1600200"/>
            <a:ext cx="2548128" cy="4525963"/>
          </a:xfrm>
          <a:prstGeom prst="rect">
            <a:avLst/>
          </a:prstGeom>
          <a:noFill/>
        </p:spPr>
        <p:txBody>
          <a:bodyPr wrap="square" lIns="0" tIns="0" rIns="0" bIns="0">
            <a:spAutoFit/>
          </a:bodyPr>
          <a:lstStyle/>
          <a:p>
            <a:pPr algn="l">
              <a:lnSpc>
                <a:spcPct val="102000"/>
              </a:lnSpc>
              <a:spcBef>
                <a:spcPts val="600"/>
              </a:spcBef>
              <a:spcAft>
                <a:spcPts val="0"/>
              </a:spcAft>
            </a:pPr>
            <a:r>
              <a:rPr sz="1700" b="1" i="0" dirty="0">
                <a:solidFill>
                  <a:srgbClr val="1F4E79"/>
                </a:solidFill>
                <a:latin typeface="Times New Roman"/>
              </a:rPr>
              <a:t>Seller / Agent</a:t>
            </a:r>
          </a:p>
          <a:p>
            <a:pPr algn="l">
              <a:lnSpc>
                <a:spcPct val="102000"/>
              </a:lnSpc>
              <a:spcBef>
                <a:spcPts val="420"/>
              </a:spcBef>
              <a:spcAft>
                <a:spcPts val="0"/>
              </a:spcAft>
            </a:pPr>
            <a:r>
              <a:rPr sz="1500" b="0" i="0" dirty="0">
                <a:solidFill>
                  <a:srgbClr val="000000"/>
                </a:solidFill>
                <a:latin typeface="Times New Roman"/>
              </a:rPr>
              <a:t>1. Register &amp; Login</a:t>
            </a:r>
          </a:p>
          <a:p>
            <a:pPr algn="l">
              <a:lnSpc>
                <a:spcPct val="102000"/>
              </a:lnSpc>
              <a:spcBef>
                <a:spcPts val="420"/>
              </a:spcBef>
              <a:spcAft>
                <a:spcPts val="0"/>
              </a:spcAft>
            </a:pPr>
            <a:r>
              <a:rPr sz="1500" b="0" i="0" dirty="0">
                <a:solidFill>
                  <a:srgbClr val="000000"/>
                </a:solidFill>
                <a:latin typeface="Times New Roman"/>
              </a:rPr>
              <a:t>2. Add / Edit / Delete Listing</a:t>
            </a:r>
          </a:p>
          <a:p>
            <a:pPr algn="l">
              <a:lnSpc>
                <a:spcPct val="102000"/>
              </a:lnSpc>
              <a:spcBef>
                <a:spcPts val="420"/>
              </a:spcBef>
              <a:spcAft>
                <a:spcPts val="0"/>
              </a:spcAft>
            </a:pPr>
            <a:r>
              <a:rPr sz="1500" b="0" i="0" dirty="0">
                <a:solidFill>
                  <a:srgbClr val="000000"/>
                </a:solidFill>
                <a:latin typeface="Times New Roman"/>
              </a:rPr>
              <a:t>3. Upload Legal Documents</a:t>
            </a:r>
          </a:p>
          <a:p>
            <a:pPr algn="l">
              <a:lnSpc>
                <a:spcPct val="102000"/>
              </a:lnSpc>
              <a:spcBef>
                <a:spcPts val="420"/>
              </a:spcBef>
              <a:spcAft>
                <a:spcPts val="0"/>
              </a:spcAft>
            </a:pPr>
            <a:r>
              <a:rPr sz="1500" b="0" i="0" dirty="0">
                <a:solidFill>
                  <a:srgbClr val="000000"/>
                </a:solidFill>
                <a:latin typeface="Times New Roman"/>
              </a:rPr>
              <a:t>4. View Listing Analytics</a:t>
            </a:r>
          </a:p>
          <a:p>
            <a:pPr algn="l">
              <a:lnSpc>
                <a:spcPct val="102000"/>
              </a:lnSpc>
              <a:spcBef>
                <a:spcPts val="420"/>
              </a:spcBef>
              <a:spcAft>
                <a:spcPts val="0"/>
              </a:spcAft>
            </a:pPr>
            <a:r>
              <a:rPr sz="1500" b="0" i="0" dirty="0">
                <a:solidFill>
                  <a:srgbClr val="000000"/>
                </a:solidFill>
                <a:latin typeface="Times New Roman"/>
              </a:rPr>
              <a:t>5. Get Optimal Listing Price Suggestion</a:t>
            </a:r>
          </a:p>
          <a:p>
            <a:pPr algn="l">
              <a:lnSpc>
                <a:spcPct val="102000"/>
              </a:lnSpc>
              <a:spcBef>
                <a:spcPts val="420"/>
              </a:spcBef>
              <a:spcAft>
                <a:spcPts val="0"/>
              </a:spcAft>
            </a:pPr>
            <a:r>
              <a:rPr sz="1500" b="0" i="0" dirty="0">
                <a:solidFill>
                  <a:srgbClr val="000000"/>
                </a:solidFill>
                <a:latin typeface="Times New Roman"/>
              </a:rPr>
              <a:t>6. Chat with Buyer</a:t>
            </a:r>
          </a:p>
        </p:txBody>
      </p:sp>
      <p:sp>
        <p:nvSpPr>
          <p:cNvPr id="7" name="TextBox 6"/>
          <p:cNvSpPr txBox="1"/>
          <p:nvPr/>
        </p:nvSpPr>
        <p:spPr>
          <a:xfrm>
            <a:off x="6138672" y="1600200"/>
            <a:ext cx="2548128" cy="4525963"/>
          </a:xfrm>
          <a:prstGeom prst="rect">
            <a:avLst/>
          </a:prstGeom>
          <a:noFill/>
        </p:spPr>
        <p:txBody>
          <a:bodyPr wrap="square" lIns="0" tIns="0" rIns="0" bIns="0">
            <a:spAutoFit/>
          </a:bodyPr>
          <a:lstStyle/>
          <a:p>
            <a:pPr algn="l">
              <a:lnSpc>
                <a:spcPct val="102000"/>
              </a:lnSpc>
              <a:spcBef>
                <a:spcPts val="600"/>
              </a:spcBef>
              <a:spcAft>
                <a:spcPts val="0"/>
              </a:spcAft>
            </a:pPr>
            <a:r>
              <a:rPr sz="1700" b="1" i="0">
                <a:solidFill>
                  <a:srgbClr val="1F4E79"/>
                </a:solidFill>
                <a:latin typeface="Times New Roman"/>
              </a:rPr>
              <a:t>Admin</a:t>
            </a:r>
          </a:p>
          <a:p>
            <a:pPr algn="l">
              <a:lnSpc>
                <a:spcPct val="102000"/>
              </a:lnSpc>
              <a:spcBef>
                <a:spcPts val="420"/>
              </a:spcBef>
              <a:spcAft>
                <a:spcPts val="0"/>
              </a:spcAft>
            </a:pPr>
            <a:r>
              <a:rPr sz="1500" b="0" i="0">
                <a:solidFill>
                  <a:srgbClr val="000000"/>
                </a:solidFill>
                <a:latin typeface="Times New Roman"/>
              </a:rPr>
              <a:t>1. Manage Users &amp; Roles</a:t>
            </a:r>
          </a:p>
          <a:p>
            <a:pPr algn="l">
              <a:lnSpc>
                <a:spcPct val="102000"/>
              </a:lnSpc>
              <a:spcBef>
                <a:spcPts val="420"/>
              </a:spcBef>
              <a:spcAft>
                <a:spcPts val="0"/>
              </a:spcAft>
            </a:pPr>
            <a:r>
              <a:rPr sz="1500" b="0" i="0">
                <a:solidFill>
                  <a:srgbClr val="000000"/>
                </a:solidFill>
                <a:latin typeface="Times New Roman"/>
              </a:rPr>
              <a:t>2. Approve / Reject Listings</a:t>
            </a:r>
          </a:p>
          <a:p>
            <a:pPr algn="l">
              <a:lnSpc>
                <a:spcPct val="102000"/>
              </a:lnSpc>
              <a:spcBef>
                <a:spcPts val="420"/>
              </a:spcBef>
              <a:spcAft>
                <a:spcPts val="0"/>
              </a:spcAft>
            </a:pPr>
            <a:r>
              <a:rPr sz="1500" b="0" i="0">
                <a:solidFill>
                  <a:srgbClr val="000000"/>
                </a:solidFill>
                <a:latin typeface="Times New Roman"/>
              </a:rPr>
              <a:t>3. Manage Reported Content</a:t>
            </a:r>
          </a:p>
          <a:p>
            <a:pPr algn="l">
              <a:lnSpc>
                <a:spcPct val="102000"/>
              </a:lnSpc>
              <a:spcBef>
                <a:spcPts val="420"/>
              </a:spcBef>
              <a:spcAft>
                <a:spcPts val="0"/>
              </a:spcAft>
            </a:pPr>
            <a:r>
              <a:rPr sz="1500" b="0" i="0">
                <a:solidFill>
                  <a:srgbClr val="000000"/>
                </a:solidFill>
                <a:latin typeface="Times New Roman"/>
              </a:rPr>
              <a:t>4. View Platform Statistics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Use Case Diagram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9</a:t>
            </a:fld>
            <a:endParaRPr lang="en-US">
              <a:latin typeface="Times New Roman" panose="02020603050405020304" pitchFamily="18" charset="0"/>
              <a:cs typeface="Times New Roman" panose="02020603050405020304" pitchFamily="18" charset="0"/>
            </a:endParaRPr>
          </a:p>
        </p:txBody>
      </p:sp>
      <p:pic>
        <p:nvPicPr>
          <p:cNvPr id="5" name="Picture 4" descr="usecase.png"/>
          <p:cNvPicPr>
            <a:picLocks noChangeAspect="1"/>
          </p:cNvPicPr>
          <p:nvPr/>
        </p:nvPicPr>
        <p:blipFill>
          <a:blip r:embed="rId2"/>
          <a:stretch>
            <a:fillRect/>
          </a:stretch>
        </p:blipFill>
        <p:spPr>
          <a:xfrm>
            <a:off x="1737571" y="1737360"/>
            <a:ext cx="5668857" cy="425164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Class Diagram </a:t>
            </a:r>
          </a:p>
        </p:txBody>
      </p:sp>
      <p:sp>
        <p:nvSpPr>
          <p:cNvPr id="4" name="Slide Number Placeholder 3"/>
          <p:cNvSpPr>
            <a:spLocks noGrp="1"/>
          </p:cNvSpPr>
          <p:nvPr>
            <p:ph type="sldNum" sz="quarter" idx="12"/>
          </p:nvPr>
        </p:nvSpPr>
        <p:spPr/>
        <p:txBody>
          <a:bodyPr/>
          <a:lstStyle/>
          <a:p>
            <a:fld id="{DC2A8C5E-5ACC-4DAB-B41C-5718F8C58B6D}" type="slidenum">
              <a:rPr lang="en-US" smtClean="0"/>
              <a:pPr/>
              <a:t>10</a:t>
            </a:fld>
            <a:endParaRPr lang="en-US"/>
          </a:p>
        </p:txBody>
      </p:sp>
      <p:pic>
        <p:nvPicPr>
          <p:cNvPr id="6" name="Picture 5">
            <a:extLst>
              <a:ext uri="{FF2B5EF4-FFF2-40B4-BE49-F238E27FC236}">
                <a16:creationId xmlns:a16="http://schemas.microsoft.com/office/drawing/2014/main" id="{9EC172AC-EBD8-378F-AA1F-29A3929429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527" y="1219199"/>
            <a:ext cx="6835273" cy="54403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latin typeface="Times New Roman" panose="02020603050405020304" pitchFamily="18" charset="0"/>
                <a:cs typeface="Times New Roman" panose="02020603050405020304" pitchFamily="18" charset="0"/>
              </a:rPr>
              <a:t>Sequence Diagram</a:t>
            </a:r>
            <a:br>
              <a:rPr lang="en-US" dirty="0">
                <a:latin typeface="Times New Roman" panose="02020603050405020304" pitchFamily="18" charset="0"/>
                <a:cs typeface="Times New Roman" panose="02020603050405020304" pitchFamily="18" charset="0"/>
              </a:rPr>
            </a:br>
            <a:r>
              <a:rPr lang="en-US" sz="2000" dirty="0">
                <a:solidFill>
                  <a:schemeClr val="tx2"/>
                </a:solidFill>
                <a:latin typeface="Times New Roman" panose="02020603050405020304" pitchFamily="18" charset="0"/>
                <a:cs typeface="Times New Roman" panose="02020603050405020304" pitchFamily="18" charset="0"/>
              </a:rPr>
              <a:t>For Buyer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11</a:t>
            </a:fld>
            <a:endParaRPr lang="en-US">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4F10C62-4D90-247F-4A23-D903566C3A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1417638"/>
            <a:ext cx="6449422" cy="53944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FCEEC7-0416-76AE-C5DF-FB9DD89B1174}"/>
              </a:ext>
            </a:extLst>
          </p:cNvPr>
          <p:cNvSpPr>
            <a:spLocks noGrp="1"/>
          </p:cNvSpPr>
          <p:nvPr>
            <p:ph type="title"/>
          </p:nvPr>
        </p:nvSpPr>
        <p:spPr>
          <a:xfrm>
            <a:off x="457200" y="274638"/>
            <a:ext cx="2667000" cy="1095375"/>
          </a:xfrm>
        </p:spPr>
        <p:txBody>
          <a:bodyPr/>
          <a:lstStyle/>
          <a:p>
            <a:r>
              <a:rPr lang="en-US" b="1" dirty="0"/>
              <a:t>For Admin</a:t>
            </a:r>
          </a:p>
        </p:txBody>
      </p:sp>
      <p:pic>
        <p:nvPicPr>
          <p:cNvPr id="8" name="Content Placeholder 7">
            <a:extLst>
              <a:ext uri="{FF2B5EF4-FFF2-40B4-BE49-F238E27FC236}">
                <a16:creationId xmlns:a16="http://schemas.microsoft.com/office/drawing/2014/main" id="{B44BEC8F-005A-F228-951D-80CA3F25D4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77386" y="1292395"/>
            <a:ext cx="4038600" cy="5409587"/>
          </a:xfrm>
          <a:prstGeom prst="rect">
            <a:avLst/>
          </a:prstGeom>
        </p:spPr>
      </p:pic>
      <p:sp>
        <p:nvSpPr>
          <p:cNvPr id="2" name="Slide Number Placeholder 1">
            <a:extLst>
              <a:ext uri="{FF2B5EF4-FFF2-40B4-BE49-F238E27FC236}">
                <a16:creationId xmlns:a16="http://schemas.microsoft.com/office/drawing/2014/main" id="{BBC58701-B587-5DAD-603E-FC559C5BC4C8}"/>
              </a:ext>
            </a:extLst>
          </p:cNvPr>
          <p:cNvSpPr>
            <a:spLocks noGrp="1"/>
          </p:cNvSpPr>
          <p:nvPr>
            <p:ph type="sldNum" sz="quarter" idx="12"/>
          </p:nvPr>
        </p:nvSpPr>
        <p:spPr/>
        <p:txBody>
          <a:bodyPr/>
          <a:lstStyle/>
          <a:p>
            <a:fld id="{DC2A8C5E-5ACC-4DAB-B41C-5718F8C58B6D}" type="slidenum">
              <a:rPr lang="en-US" smtClean="0"/>
              <a:pPr/>
              <a:t>12</a:t>
            </a:fld>
            <a:endParaRPr lang="en-US"/>
          </a:p>
        </p:txBody>
      </p:sp>
    </p:spTree>
    <p:extLst>
      <p:ext uri="{BB962C8B-B14F-4D97-AF65-F5344CB8AC3E}">
        <p14:creationId xmlns:p14="http://schemas.microsoft.com/office/powerpoint/2010/main" val="1143045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60A7A-175E-A534-07D6-C881EED10142}"/>
              </a:ext>
            </a:extLst>
          </p:cNvPr>
          <p:cNvSpPr>
            <a:spLocks noGrp="1"/>
          </p:cNvSpPr>
          <p:nvPr>
            <p:ph type="title"/>
          </p:nvPr>
        </p:nvSpPr>
        <p:spPr>
          <a:xfrm>
            <a:off x="457200" y="274638"/>
            <a:ext cx="2438400" cy="1143000"/>
          </a:xfrm>
        </p:spPr>
        <p:txBody>
          <a:bodyPr/>
          <a:lstStyle/>
          <a:p>
            <a:r>
              <a:rPr lang="en-US" b="1" dirty="0"/>
              <a:t>For Seller</a:t>
            </a:r>
          </a:p>
        </p:txBody>
      </p:sp>
      <p:pic>
        <p:nvPicPr>
          <p:cNvPr id="6" name="Content Placeholder 5">
            <a:extLst>
              <a:ext uri="{FF2B5EF4-FFF2-40B4-BE49-F238E27FC236}">
                <a16:creationId xmlns:a16="http://schemas.microsoft.com/office/drawing/2014/main" id="{1149874F-89B9-DD71-473D-58552CB57D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1509" y="1417638"/>
            <a:ext cx="6417091" cy="4997077"/>
          </a:xfrm>
          <a:prstGeom prst="rect">
            <a:avLst/>
          </a:prstGeom>
        </p:spPr>
      </p:pic>
      <p:sp>
        <p:nvSpPr>
          <p:cNvPr id="4" name="Slide Number Placeholder 3">
            <a:extLst>
              <a:ext uri="{FF2B5EF4-FFF2-40B4-BE49-F238E27FC236}">
                <a16:creationId xmlns:a16="http://schemas.microsoft.com/office/drawing/2014/main" id="{49B29327-A58A-6B7B-3C52-E780B7E9BF9C}"/>
              </a:ext>
            </a:extLst>
          </p:cNvPr>
          <p:cNvSpPr>
            <a:spLocks noGrp="1"/>
          </p:cNvSpPr>
          <p:nvPr>
            <p:ph type="sldNum" sz="quarter" idx="12"/>
          </p:nvPr>
        </p:nvSpPr>
        <p:spPr/>
        <p:txBody>
          <a:bodyPr/>
          <a:lstStyle/>
          <a:p>
            <a:fld id="{DC2A8C5E-5ACC-4DAB-B41C-5718F8C58B6D}" type="slidenum">
              <a:rPr lang="en-US" smtClean="0"/>
              <a:pPr/>
              <a:t>13</a:t>
            </a:fld>
            <a:endParaRPr lang="en-US"/>
          </a:p>
        </p:txBody>
      </p:sp>
    </p:spTree>
    <p:extLst>
      <p:ext uri="{BB962C8B-B14F-4D97-AF65-F5344CB8AC3E}">
        <p14:creationId xmlns:p14="http://schemas.microsoft.com/office/powerpoint/2010/main" val="2234311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System Sequence Diagram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14</a:t>
            </a:fld>
            <a:endParaRPr lang="en-US">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4527769-4668-38AD-3C8B-761EE064A1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1247621"/>
            <a:ext cx="3962400" cy="544036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Activity/State Machine Diagram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15</a:t>
            </a:fld>
            <a:endParaRPr lang="en-US">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D36DBA8-1513-F948-0112-455CF03B21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188" y="1417638"/>
            <a:ext cx="7114237" cy="516572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latin typeface="Times New Roman" panose="02020603050405020304" pitchFamily="18" charset="0"/>
                <a:cs typeface="Times New Roman" panose="02020603050405020304" pitchFamily="18" charset="0"/>
              </a:rPr>
              <a:t>Json Tree</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16</a:t>
            </a:fld>
            <a:endParaRPr lang="en-US">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4CCEB15-89B5-889F-8C6D-0D7F2B2872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5137" y="1219818"/>
            <a:ext cx="4633263" cy="53730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Package Diagram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17</a:t>
            </a:fld>
            <a:endParaRPr lang="en-US">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7247F96-A0AE-7AEC-B075-8F1E398406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3139" y="1199962"/>
            <a:ext cx="4560061" cy="552151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Deployment Diagram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18</a:t>
            </a:fld>
            <a:endParaRPr lang="en-US">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7A5BFE9E-2AFF-148F-2D56-3CD395754B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312" y="1174750"/>
            <a:ext cx="7191375" cy="51816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latin typeface="Times New Roman" panose="02020603050405020304" pitchFamily="18" charset="0"/>
                <a:cs typeface="Times New Roman" panose="02020603050405020304" pitchFamily="18" charset="0"/>
              </a:rPr>
              <a:t> Pseudocode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19</a:t>
            </a:fld>
            <a:endParaRPr lang="en-US">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7EE62E4-7616-BA80-B72F-C756FCEDFB4E}"/>
              </a:ext>
            </a:extLst>
          </p:cNvPr>
          <p:cNvSpPr txBox="1"/>
          <p:nvPr/>
        </p:nvSpPr>
        <p:spPr>
          <a:xfrm>
            <a:off x="228600" y="1232972"/>
            <a:ext cx="4572000" cy="369332"/>
          </a:xfrm>
          <a:prstGeom prst="rect">
            <a:avLst/>
          </a:prstGeom>
          <a:noFill/>
        </p:spPr>
        <p:txBody>
          <a:bodyPr wrap="square">
            <a:spAutoFit/>
          </a:bodyPr>
          <a:lstStyle/>
          <a:p>
            <a:pPr marL="0" marR="0" indent="0" algn="l">
              <a:buNone/>
            </a:pPr>
            <a:r>
              <a:rPr lang="en-US" b="1" i="0" dirty="0">
                <a:solidFill>
                  <a:srgbClr val="1B1B1E"/>
                </a:solidFill>
                <a:effectLst/>
                <a:latin typeface="Inter"/>
              </a:rPr>
              <a:t>1. System Architecture &amp; Context Flow</a:t>
            </a:r>
          </a:p>
        </p:txBody>
      </p:sp>
      <p:sp>
        <p:nvSpPr>
          <p:cNvPr id="7" name="TextBox 6">
            <a:extLst>
              <a:ext uri="{FF2B5EF4-FFF2-40B4-BE49-F238E27FC236}">
                <a16:creationId xmlns:a16="http://schemas.microsoft.com/office/drawing/2014/main" id="{656C7506-82E8-0AA3-2521-10889DEE649A}"/>
              </a:ext>
            </a:extLst>
          </p:cNvPr>
          <p:cNvSpPr txBox="1"/>
          <p:nvPr/>
        </p:nvSpPr>
        <p:spPr>
          <a:xfrm>
            <a:off x="1066800" y="1602304"/>
            <a:ext cx="6400800" cy="4247317"/>
          </a:xfrm>
          <a:prstGeom prst="rect">
            <a:avLst/>
          </a:prstGeom>
          <a:noFill/>
        </p:spPr>
        <p:txBody>
          <a:bodyPr wrap="square">
            <a:spAutoFit/>
          </a:bodyPr>
          <a:lstStyle/>
          <a:p>
            <a:r>
              <a:rPr lang="en-US" dirty="0">
                <a:solidFill>
                  <a:schemeClr val="tx2"/>
                </a:solidFill>
              </a:rPr>
              <a:t>[User Browser] </a:t>
            </a:r>
          </a:p>
          <a:p>
            <a:r>
              <a:rPr lang="en-US" dirty="0">
                <a:solidFill>
                  <a:schemeClr val="tx2"/>
                </a:solidFill>
              </a:rPr>
              <a:t>       │</a:t>
            </a:r>
          </a:p>
          <a:p>
            <a:r>
              <a:rPr lang="en-US" dirty="0">
                <a:solidFill>
                  <a:schemeClr val="tx2"/>
                </a:solidFill>
              </a:rPr>
              <a:t>       ▼</a:t>
            </a:r>
          </a:p>
          <a:p>
            <a:r>
              <a:rPr lang="en-US" dirty="0">
                <a:solidFill>
                  <a:schemeClr val="tx2"/>
                </a:solidFill>
              </a:rPr>
              <a:t> [React Router (</a:t>
            </a:r>
            <a:r>
              <a:rPr lang="en-US" dirty="0" err="1">
                <a:solidFill>
                  <a:schemeClr val="tx2"/>
                </a:solidFill>
              </a:rPr>
              <a:t>App.tsx</a:t>
            </a:r>
            <a:r>
              <a:rPr lang="en-US" dirty="0">
                <a:solidFill>
                  <a:schemeClr val="tx2"/>
                </a:solidFill>
              </a:rPr>
              <a:t>)] ──► [Layout Component (Navbar, Footer, Main Frame)]</a:t>
            </a:r>
          </a:p>
          <a:p>
            <a:r>
              <a:rPr lang="en-US" dirty="0">
                <a:solidFill>
                  <a:schemeClr val="tx2"/>
                </a:solidFill>
              </a:rPr>
              <a:t>       │</a:t>
            </a:r>
          </a:p>
          <a:p>
            <a:r>
              <a:rPr lang="en-US" dirty="0">
                <a:solidFill>
                  <a:schemeClr val="tx2"/>
                </a:solidFill>
              </a:rPr>
              <a:t>       ├─► [</a:t>
            </a:r>
            <a:r>
              <a:rPr lang="en-US" dirty="0" err="1">
                <a:solidFill>
                  <a:schemeClr val="tx2"/>
                </a:solidFill>
              </a:rPr>
              <a:t>Auth.tsx</a:t>
            </a:r>
            <a:r>
              <a:rPr lang="en-US" dirty="0">
                <a:solidFill>
                  <a:schemeClr val="tx2"/>
                </a:solidFill>
              </a:rPr>
              <a:t>] ─────────────► Firebase Authentication</a:t>
            </a:r>
          </a:p>
          <a:p>
            <a:r>
              <a:rPr lang="en-US" dirty="0">
                <a:solidFill>
                  <a:schemeClr val="tx2"/>
                </a:solidFill>
              </a:rPr>
              <a:t>       ├─► [Search / Detail] ──────► </a:t>
            </a:r>
            <a:r>
              <a:rPr lang="en-US" dirty="0" err="1">
                <a:solidFill>
                  <a:schemeClr val="tx2"/>
                </a:solidFill>
              </a:rPr>
              <a:t>Firestore</a:t>
            </a:r>
            <a:r>
              <a:rPr lang="en-US" dirty="0">
                <a:solidFill>
                  <a:schemeClr val="tx2"/>
                </a:solidFill>
              </a:rPr>
              <a:t> Database (Properties DB)</a:t>
            </a:r>
          </a:p>
          <a:p>
            <a:r>
              <a:rPr lang="en-US" dirty="0">
                <a:solidFill>
                  <a:schemeClr val="tx2"/>
                </a:solidFill>
              </a:rPr>
              <a:t>       ├─► [</a:t>
            </a:r>
            <a:r>
              <a:rPr lang="en-US" dirty="0" err="1">
                <a:solidFill>
                  <a:schemeClr val="tx2"/>
                </a:solidFill>
              </a:rPr>
              <a:t>Messages.tsx</a:t>
            </a:r>
            <a:r>
              <a:rPr lang="en-US" dirty="0">
                <a:solidFill>
                  <a:schemeClr val="tx2"/>
                </a:solidFill>
              </a:rPr>
              <a:t>] ─────────► </a:t>
            </a:r>
            <a:r>
              <a:rPr lang="en-US" dirty="0" err="1">
                <a:solidFill>
                  <a:schemeClr val="tx2"/>
                </a:solidFill>
              </a:rPr>
              <a:t>Firestore</a:t>
            </a:r>
            <a:r>
              <a:rPr lang="en-US" dirty="0">
                <a:solidFill>
                  <a:schemeClr val="tx2"/>
                </a:solidFill>
              </a:rPr>
              <a:t> Database (Real-time Messaging DB)</a:t>
            </a:r>
          </a:p>
          <a:p>
            <a:r>
              <a:rPr lang="en-US" dirty="0">
                <a:solidFill>
                  <a:schemeClr val="tx2"/>
                </a:solidFill>
              </a:rPr>
              <a:t>       ├─► [</a:t>
            </a:r>
            <a:r>
              <a:rPr lang="en-US" dirty="0" err="1">
                <a:solidFill>
                  <a:schemeClr val="tx2"/>
                </a:solidFill>
              </a:rPr>
              <a:t>Calculator.tsx</a:t>
            </a:r>
            <a:r>
              <a:rPr lang="en-US" dirty="0">
                <a:solidFill>
                  <a:schemeClr val="tx2"/>
                </a:solidFill>
              </a:rPr>
              <a:t>] ───────► Formula Engine (Mortgage / Amortization)</a:t>
            </a:r>
          </a:p>
          <a:p>
            <a:r>
              <a:rPr lang="en-US" dirty="0">
                <a:solidFill>
                  <a:schemeClr val="tx2"/>
                </a:solidFill>
              </a:rPr>
              <a:t>       └─► [</a:t>
            </a:r>
            <a:r>
              <a:rPr lang="en-US" dirty="0" err="1">
                <a:solidFill>
                  <a:schemeClr val="tx2"/>
                </a:solidFill>
              </a:rPr>
              <a:t>AIPredictor.tsx</a:t>
            </a:r>
            <a:r>
              <a:rPr lang="en-US" dirty="0">
                <a:solidFill>
                  <a:schemeClr val="tx2"/>
                </a:solidFill>
              </a:rPr>
              <a:t>] ──────► Gemini AI Model (Fair Price Range / Market Insights)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3181E0-0B38-88FF-9F2A-9A7272A77BC5}"/>
              </a:ext>
            </a:extLst>
          </p:cNvPr>
          <p:cNvSpPr>
            <a:spLocks noGrp="1"/>
          </p:cNvSpPr>
          <p:nvPr>
            <p:ph type="sldNum" sz="quarter" idx="12"/>
          </p:nvPr>
        </p:nvSpPr>
        <p:spPr/>
        <p:txBody>
          <a:bodyPr/>
          <a:lstStyle/>
          <a:p>
            <a:fld id="{DC2A8C5E-5ACC-4DAB-B41C-5718F8C58B6D}" type="slidenum">
              <a:rPr lang="en-US" smtClean="0"/>
              <a:pPr/>
              <a:t>20</a:t>
            </a:fld>
            <a:endParaRPr lang="en-US"/>
          </a:p>
        </p:txBody>
      </p:sp>
      <p:sp>
        <p:nvSpPr>
          <p:cNvPr id="4" name="TextBox 3">
            <a:extLst>
              <a:ext uri="{FF2B5EF4-FFF2-40B4-BE49-F238E27FC236}">
                <a16:creationId xmlns:a16="http://schemas.microsoft.com/office/drawing/2014/main" id="{00B8B880-6D68-33C0-93D2-80DAD292193C}"/>
              </a:ext>
            </a:extLst>
          </p:cNvPr>
          <p:cNvSpPr txBox="1"/>
          <p:nvPr/>
        </p:nvSpPr>
        <p:spPr>
          <a:xfrm>
            <a:off x="381000" y="136525"/>
            <a:ext cx="6477000" cy="369332"/>
          </a:xfrm>
          <a:prstGeom prst="rect">
            <a:avLst/>
          </a:prstGeom>
          <a:noFill/>
        </p:spPr>
        <p:txBody>
          <a:bodyPr wrap="square">
            <a:spAutoFit/>
          </a:bodyPr>
          <a:lstStyle/>
          <a:p>
            <a:pPr marL="0" marR="0" indent="0" algn="l">
              <a:spcAft>
                <a:spcPts val="1350"/>
              </a:spcAft>
              <a:buNone/>
            </a:pPr>
            <a:r>
              <a:rPr lang="en-US" b="1" i="0" dirty="0">
                <a:solidFill>
                  <a:srgbClr val="1B1B1E"/>
                </a:solidFill>
                <a:effectLst/>
                <a:latin typeface="Inter"/>
              </a:rPr>
              <a:t>2. Global Core Services &amp; Configurations</a:t>
            </a:r>
          </a:p>
        </p:txBody>
      </p:sp>
      <p:sp>
        <p:nvSpPr>
          <p:cNvPr id="8" name="TextBox 7">
            <a:extLst>
              <a:ext uri="{FF2B5EF4-FFF2-40B4-BE49-F238E27FC236}">
                <a16:creationId xmlns:a16="http://schemas.microsoft.com/office/drawing/2014/main" id="{A1B6358B-CA85-5E64-3281-37DD2FA8A7AD}"/>
              </a:ext>
            </a:extLst>
          </p:cNvPr>
          <p:cNvSpPr txBox="1"/>
          <p:nvPr/>
        </p:nvSpPr>
        <p:spPr>
          <a:xfrm>
            <a:off x="914400" y="1066800"/>
            <a:ext cx="7620000" cy="1754326"/>
          </a:xfrm>
          <a:prstGeom prst="rect">
            <a:avLst/>
          </a:prstGeom>
          <a:noFill/>
        </p:spPr>
        <p:txBody>
          <a:bodyPr wrap="square">
            <a:spAutoFit/>
          </a:bodyPr>
          <a:lstStyle/>
          <a:p>
            <a:r>
              <a:rPr lang="en-US" dirty="0">
                <a:solidFill>
                  <a:schemeClr val="tx2"/>
                </a:solidFill>
              </a:rPr>
              <a:t>INITIALIZE Firebase Client:</a:t>
            </a:r>
          </a:p>
          <a:p>
            <a:r>
              <a:rPr lang="en-US" dirty="0">
                <a:solidFill>
                  <a:schemeClr val="tx2"/>
                </a:solidFill>
              </a:rPr>
              <a:t>    CONFIG = </a:t>
            </a:r>
            <a:r>
              <a:rPr lang="en-US" dirty="0" err="1">
                <a:solidFill>
                  <a:schemeClr val="tx2"/>
                </a:solidFill>
              </a:rPr>
              <a:t>ReadEnvironmentVariables</a:t>
            </a:r>
            <a:r>
              <a:rPr lang="en-US" dirty="0">
                <a:solidFill>
                  <a:schemeClr val="tx2"/>
                </a:solidFill>
              </a:rPr>
              <a:t>()</a:t>
            </a:r>
          </a:p>
          <a:p>
            <a:r>
              <a:rPr lang="en-US" dirty="0">
                <a:solidFill>
                  <a:schemeClr val="tx2"/>
                </a:solidFill>
              </a:rPr>
              <a:t>    APP = </a:t>
            </a:r>
            <a:r>
              <a:rPr lang="en-US" dirty="0" err="1">
                <a:solidFill>
                  <a:schemeClr val="tx2"/>
                </a:solidFill>
              </a:rPr>
              <a:t>InitializeFirebaseApp</a:t>
            </a:r>
            <a:r>
              <a:rPr lang="en-US" dirty="0">
                <a:solidFill>
                  <a:schemeClr val="tx2"/>
                </a:solidFill>
              </a:rPr>
              <a:t>(CONFIG)</a:t>
            </a:r>
          </a:p>
          <a:p>
            <a:r>
              <a:rPr lang="en-US" dirty="0">
                <a:solidFill>
                  <a:schemeClr val="tx2"/>
                </a:solidFill>
              </a:rPr>
              <a:t>    </a:t>
            </a:r>
          </a:p>
          <a:p>
            <a:r>
              <a:rPr lang="en-US" dirty="0">
                <a:solidFill>
                  <a:schemeClr val="tx2"/>
                </a:solidFill>
              </a:rPr>
              <a:t>    EXPORT AUTH = </a:t>
            </a:r>
            <a:r>
              <a:rPr lang="en-US" dirty="0" err="1">
                <a:solidFill>
                  <a:schemeClr val="tx2"/>
                </a:solidFill>
              </a:rPr>
              <a:t>GetFirebaseAuthInstance</a:t>
            </a:r>
            <a:r>
              <a:rPr lang="en-US" dirty="0">
                <a:solidFill>
                  <a:schemeClr val="tx2"/>
                </a:solidFill>
              </a:rPr>
              <a:t>(APP)</a:t>
            </a:r>
          </a:p>
          <a:p>
            <a:r>
              <a:rPr lang="en-US" dirty="0">
                <a:solidFill>
                  <a:schemeClr val="tx2"/>
                </a:solidFill>
              </a:rPr>
              <a:t>    EXPORT FIRESTORE = </a:t>
            </a:r>
            <a:r>
              <a:rPr lang="en-US" dirty="0" err="1">
                <a:solidFill>
                  <a:schemeClr val="tx2"/>
                </a:solidFill>
              </a:rPr>
              <a:t>GetFirestoreDatabaseInstance</a:t>
            </a:r>
            <a:r>
              <a:rPr lang="en-US" dirty="0">
                <a:solidFill>
                  <a:schemeClr val="tx2"/>
                </a:solidFill>
              </a:rPr>
              <a:t>(APP)</a:t>
            </a:r>
          </a:p>
        </p:txBody>
      </p:sp>
    </p:spTree>
    <p:extLst>
      <p:ext uri="{BB962C8B-B14F-4D97-AF65-F5344CB8AC3E}">
        <p14:creationId xmlns:p14="http://schemas.microsoft.com/office/powerpoint/2010/main" val="34184781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98CA12-C2AC-C35F-6680-AAD94A8EA6CE}"/>
              </a:ext>
            </a:extLst>
          </p:cNvPr>
          <p:cNvSpPr>
            <a:spLocks noGrp="1"/>
          </p:cNvSpPr>
          <p:nvPr>
            <p:ph type="sldNum" sz="quarter" idx="12"/>
          </p:nvPr>
        </p:nvSpPr>
        <p:spPr/>
        <p:txBody>
          <a:bodyPr/>
          <a:lstStyle/>
          <a:p>
            <a:fld id="{DC2A8C5E-5ACC-4DAB-B41C-5718F8C58B6D}" type="slidenum">
              <a:rPr lang="en-US" smtClean="0"/>
              <a:pPr/>
              <a:t>21</a:t>
            </a:fld>
            <a:endParaRPr lang="en-US"/>
          </a:p>
        </p:txBody>
      </p:sp>
      <p:sp>
        <p:nvSpPr>
          <p:cNvPr id="8" name="TextBox 7">
            <a:extLst>
              <a:ext uri="{FF2B5EF4-FFF2-40B4-BE49-F238E27FC236}">
                <a16:creationId xmlns:a16="http://schemas.microsoft.com/office/drawing/2014/main" id="{7805AFE9-9BDC-8845-5E9D-D310B7240C5B}"/>
              </a:ext>
            </a:extLst>
          </p:cNvPr>
          <p:cNvSpPr txBox="1"/>
          <p:nvPr/>
        </p:nvSpPr>
        <p:spPr>
          <a:xfrm>
            <a:off x="152400" y="0"/>
            <a:ext cx="6705600" cy="307777"/>
          </a:xfrm>
          <a:prstGeom prst="rect">
            <a:avLst/>
          </a:prstGeom>
          <a:noFill/>
        </p:spPr>
        <p:txBody>
          <a:bodyPr wrap="square">
            <a:spAutoFit/>
          </a:bodyPr>
          <a:lstStyle/>
          <a:p>
            <a:pPr marL="0" marR="0" indent="0" algn="l">
              <a:buNone/>
            </a:pPr>
            <a:r>
              <a:rPr lang="en-US" sz="1050" b="1" i="0" dirty="0">
                <a:solidFill>
                  <a:srgbClr val="1B1B1E"/>
                </a:solidFill>
                <a:effectLst/>
                <a:latin typeface="Inter"/>
              </a:rPr>
              <a:t> </a:t>
            </a:r>
            <a:r>
              <a:rPr lang="en-US" sz="1400" b="1" i="0" dirty="0">
                <a:solidFill>
                  <a:srgbClr val="1B1B1E"/>
                </a:solidFill>
                <a:effectLst/>
                <a:latin typeface="Inter"/>
              </a:rPr>
              <a:t>User Identity Portal</a:t>
            </a:r>
            <a:endParaRPr lang="en-US" sz="1050" b="1" i="0" dirty="0">
              <a:solidFill>
                <a:srgbClr val="1B1B1E"/>
              </a:solidFill>
              <a:effectLst/>
              <a:latin typeface="Inter"/>
            </a:endParaRPr>
          </a:p>
        </p:txBody>
      </p:sp>
      <p:sp>
        <p:nvSpPr>
          <p:cNvPr id="10" name="TextBox 9">
            <a:extLst>
              <a:ext uri="{FF2B5EF4-FFF2-40B4-BE49-F238E27FC236}">
                <a16:creationId xmlns:a16="http://schemas.microsoft.com/office/drawing/2014/main" id="{7D036997-C5AD-5129-3CB5-8E7BB253F061}"/>
              </a:ext>
            </a:extLst>
          </p:cNvPr>
          <p:cNvSpPr txBox="1"/>
          <p:nvPr/>
        </p:nvSpPr>
        <p:spPr>
          <a:xfrm>
            <a:off x="1143000" y="457199"/>
            <a:ext cx="6172200" cy="5909310"/>
          </a:xfrm>
          <a:prstGeom prst="rect">
            <a:avLst/>
          </a:prstGeom>
          <a:noFill/>
        </p:spPr>
        <p:txBody>
          <a:bodyPr wrap="square">
            <a:spAutoFit/>
          </a:bodyPr>
          <a:lstStyle/>
          <a:p>
            <a:r>
              <a:rPr lang="en-US" dirty="0">
                <a:solidFill>
                  <a:schemeClr val="tx2"/>
                </a:solidFill>
              </a:rPr>
              <a:t>COMPONENT </a:t>
            </a:r>
            <a:r>
              <a:rPr lang="en-US" dirty="0" err="1">
                <a:solidFill>
                  <a:schemeClr val="tx2"/>
                </a:solidFill>
              </a:rPr>
              <a:t>AuthPage</a:t>
            </a:r>
            <a:r>
              <a:rPr lang="en-US" dirty="0">
                <a:solidFill>
                  <a:schemeClr val="tx2"/>
                </a:solidFill>
              </a:rPr>
              <a:t>:</a:t>
            </a:r>
          </a:p>
          <a:p>
            <a:r>
              <a:rPr lang="en-US" dirty="0">
                <a:solidFill>
                  <a:schemeClr val="tx2"/>
                </a:solidFill>
              </a:rPr>
              <a:t>    STATE email = ""</a:t>
            </a:r>
          </a:p>
          <a:p>
            <a:r>
              <a:rPr lang="en-US" dirty="0">
                <a:solidFill>
                  <a:schemeClr val="tx2"/>
                </a:solidFill>
              </a:rPr>
              <a:t>    STATE password = ""</a:t>
            </a:r>
          </a:p>
          <a:p>
            <a:r>
              <a:rPr lang="en-US" dirty="0">
                <a:solidFill>
                  <a:schemeClr val="tx2"/>
                </a:solidFill>
              </a:rPr>
              <a:t>    STATE </a:t>
            </a:r>
            <a:r>
              <a:rPr lang="en-US" dirty="0" err="1">
                <a:solidFill>
                  <a:schemeClr val="tx2"/>
                </a:solidFill>
              </a:rPr>
              <a:t>isSignUp</a:t>
            </a:r>
            <a:r>
              <a:rPr lang="en-US" dirty="0">
                <a:solidFill>
                  <a:schemeClr val="tx2"/>
                </a:solidFill>
              </a:rPr>
              <a:t> = false</a:t>
            </a:r>
          </a:p>
          <a:p>
            <a:r>
              <a:rPr lang="en-US" dirty="0">
                <a:solidFill>
                  <a:schemeClr val="tx2"/>
                </a:solidFill>
              </a:rPr>
              <a:t>    STATE error = null</a:t>
            </a:r>
          </a:p>
          <a:p>
            <a:endParaRPr lang="en-US" dirty="0">
              <a:solidFill>
                <a:schemeClr val="tx2"/>
              </a:solidFill>
            </a:endParaRPr>
          </a:p>
          <a:p>
            <a:r>
              <a:rPr lang="en-US" dirty="0">
                <a:solidFill>
                  <a:schemeClr val="tx2"/>
                </a:solidFill>
              </a:rPr>
              <a:t>    ON </a:t>
            </a:r>
            <a:r>
              <a:rPr lang="en-US" dirty="0" err="1">
                <a:solidFill>
                  <a:schemeClr val="tx2"/>
                </a:solidFill>
              </a:rPr>
              <a:t>SubmitForm</a:t>
            </a:r>
            <a:r>
              <a:rPr lang="en-US" dirty="0">
                <a:solidFill>
                  <a:schemeClr val="tx2"/>
                </a:solidFill>
              </a:rPr>
              <a:t>():</a:t>
            </a:r>
          </a:p>
          <a:p>
            <a:r>
              <a:rPr lang="en-US" dirty="0">
                <a:solidFill>
                  <a:schemeClr val="tx2"/>
                </a:solidFill>
              </a:rPr>
              <a:t>        TRY:</a:t>
            </a:r>
          </a:p>
          <a:p>
            <a:r>
              <a:rPr lang="en-US" dirty="0">
                <a:solidFill>
                  <a:schemeClr val="tx2"/>
                </a:solidFill>
              </a:rPr>
              <a:t>            IF </a:t>
            </a:r>
            <a:r>
              <a:rPr lang="en-US" dirty="0" err="1">
                <a:solidFill>
                  <a:schemeClr val="tx2"/>
                </a:solidFill>
              </a:rPr>
              <a:t>isSignUp</a:t>
            </a:r>
            <a:r>
              <a:rPr lang="en-US" dirty="0">
                <a:solidFill>
                  <a:schemeClr val="tx2"/>
                </a:solidFill>
              </a:rPr>
              <a:t> IS true:</a:t>
            </a:r>
          </a:p>
          <a:p>
            <a:r>
              <a:rPr lang="en-US" dirty="0">
                <a:solidFill>
                  <a:schemeClr val="tx2"/>
                </a:solidFill>
              </a:rPr>
              <a:t>                CALL </a:t>
            </a:r>
            <a:r>
              <a:rPr lang="en-US" dirty="0" err="1">
                <a:solidFill>
                  <a:schemeClr val="tx2"/>
                </a:solidFill>
              </a:rPr>
              <a:t>AUTH.CreateUserWithEmailAndPassword</a:t>
            </a:r>
            <a:r>
              <a:rPr lang="en-US" dirty="0">
                <a:solidFill>
                  <a:schemeClr val="tx2"/>
                </a:solidFill>
              </a:rPr>
              <a:t>(email, password)</a:t>
            </a:r>
          </a:p>
          <a:p>
            <a:r>
              <a:rPr lang="en-US" dirty="0">
                <a:solidFill>
                  <a:schemeClr val="tx2"/>
                </a:solidFill>
              </a:rPr>
              <a:t>            ELSE:</a:t>
            </a:r>
          </a:p>
          <a:p>
            <a:r>
              <a:rPr lang="en-US" dirty="0">
                <a:solidFill>
                  <a:schemeClr val="tx2"/>
                </a:solidFill>
              </a:rPr>
              <a:t>                CALL </a:t>
            </a:r>
            <a:r>
              <a:rPr lang="en-US" dirty="0" err="1">
                <a:solidFill>
                  <a:schemeClr val="tx2"/>
                </a:solidFill>
              </a:rPr>
              <a:t>AUTH.SignInWithEmailAndPassword</a:t>
            </a:r>
            <a:r>
              <a:rPr lang="en-US" dirty="0">
                <a:solidFill>
                  <a:schemeClr val="tx2"/>
                </a:solidFill>
              </a:rPr>
              <a:t>(email, password)</a:t>
            </a:r>
          </a:p>
          <a:p>
            <a:r>
              <a:rPr lang="en-US" dirty="0">
                <a:solidFill>
                  <a:schemeClr val="tx2"/>
                </a:solidFill>
              </a:rPr>
              <a:t>            REDIRECT to </a:t>
            </a:r>
            <a:r>
              <a:rPr lang="en-US" dirty="0" err="1">
                <a:solidFill>
                  <a:schemeClr val="tx2"/>
                </a:solidFill>
              </a:rPr>
              <a:t>UserDashboard</a:t>
            </a:r>
            <a:r>
              <a:rPr lang="en-US" dirty="0">
                <a:solidFill>
                  <a:schemeClr val="tx2"/>
                </a:solidFill>
              </a:rPr>
              <a:t> or Homepage</a:t>
            </a:r>
          </a:p>
          <a:p>
            <a:r>
              <a:rPr lang="en-US" dirty="0">
                <a:solidFill>
                  <a:schemeClr val="tx2"/>
                </a:solidFill>
              </a:rPr>
              <a:t>        CATCH (err):</a:t>
            </a:r>
          </a:p>
          <a:p>
            <a:r>
              <a:rPr lang="en-US" dirty="0">
                <a:solidFill>
                  <a:schemeClr val="tx2"/>
                </a:solidFill>
              </a:rPr>
              <a:t>            SET error = </a:t>
            </a:r>
            <a:r>
              <a:rPr lang="en-US" dirty="0" err="1">
                <a:solidFill>
                  <a:schemeClr val="tx2"/>
                </a:solidFill>
              </a:rPr>
              <a:t>err.message</a:t>
            </a:r>
            <a:endParaRPr lang="en-US" dirty="0">
              <a:solidFill>
                <a:schemeClr val="tx2"/>
              </a:solidFill>
            </a:endParaRPr>
          </a:p>
          <a:p>
            <a:endParaRPr lang="en-US" dirty="0">
              <a:solidFill>
                <a:schemeClr val="tx2"/>
              </a:solidFill>
            </a:endParaRPr>
          </a:p>
          <a:p>
            <a:r>
              <a:rPr lang="en-US" dirty="0">
                <a:solidFill>
                  <a:schemeClr val="tx2"/>
                </a:solidFill>
              </a:rPr>
              <a:t>    RENDER:</a:t>
            </a:r>
          </a:p>
          <a:p>
            <a:r>
              <a:rPr lang="en-US" dirty="0">
                <a:solidFill>
                  <a:schemeClr val="tx2"/>
                </a:solidFill>
              </a:rPr>
              <a:t>        Form UI (Email, Password)</a:t>
            </a:r>
          </a:p>
          <a:p>
            <a:r>
              <a:rPr lang="en-US" dirty="0">
                <a:solidFill>
                  <a:schemeClr val="tx2"/>
                </a:solidFill>
              </a:rPr>
              <a:t>        Button: Toggle </a:t>
            </a:r>
            <a:r>
              <a:rPr lang="en-US" dirty="0" err="1">
                <a:solidFill>
                  <a:schemeClr val="tx2"/>
                </a:solidFill>
              </a:rPr>
              <a:t>SignIn</a:t>
            </a:r>
            <a:r>
              <a:rPr lang="en-US" dirty="0">
                <a:solidFill>
                  <a:schemeClr val="tx2"/>
                </a:solidFill>
              </a:rPr>
              <a:t> / </a:t>
            </a:r>
            <a:r>
              <a:rPr lang="en-US" dirty="0" err="1">
                <a:solidFill>
                  <a:schemeClr val="tx2"/>
                </a:solidFill>
              </a:rPr>
              <a:t>SignUp</a:t>
            </a:r>
            <a:r>
              <a:rPr lang="en-US" dirty="0">
                <a:solidFill>
                  <a:schemeClr val="tx2"/>
                </a:solidFill>
              </a:rPr>
              <a:t> State</a:t>
            </a:r>
          </a:p>
        </p:txBody>
      </p:sp>
    </p:spTree>
    <p:extLst>
      <p:ext uri="{BB962C8B-B14F-4D97-AF65-F5344CB8AC3E}">
        <p14:creationId xmlns:p14="http://schemas.microsoft.com/office/powerpoint/2010/main" val="3287186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24A72B-4929-73AC-539E-01D42FF81EBE}"/>
              </a:ext>
            </a:extLst>
          </p:cNvPr>
          <p:cNvSpPr>
            <a:spLocks noGrp="1"/>
          </p:cNvSpPr>
          <p:nvPr>
            <p:ph type="sldNum" sz="quarter" idx="12"/>
          </p:nvPr>
        </p:nvSpPr>
        <p:spPr/>
        <p:txBody>
          <a:bodyPr/>
          <a:lstStyle/>
          <a:p>
            <a:fld id="{DC2A8C5E-5ACC-4DAB-B41C-5718F8C58B6D}" type="slidenum">
              <a:rPr lang="en-US" smtClean="0"/>
              <a:pPr/>
              <a:t>22</a:t>
            </a:fld>
            <a:endParaRPr lang="en-US"/>
          </a:p>
        </p:txBody>
      </p:sp>
      <p:sp>
        <p:nvSpPr>
          <p:cNvPr id="4" name="TextBox 3">
            <a:extLst>
              <a:ext uri="{FF2B5EF4-FFF2-40B4-BE49-F238E27FC236}">
                <a16:creationId xmlns:a16="http://schemas.microsoft.com/office/drawing/2014/main" id="{5D8B3873-06DC-AE5D-D39D-E8A108995B66}"/>
              </a:ext>
            </a:extLst>
          </p:cNvPr>
          <p:cNvSpPr txBox="1"/>
          <p:nvPr/>
        </p:nvSpPr>
        <p:spPr>
          <a:xfrm>
            <a:off x="76200" y="136525"/>
            <a:ext cx="6781800" cy="307777"/>
          </a:xfrm>
          <a:prstGeom prst="rect">
            <a:avLst/>
          </a:prstGeom>
          <a:noFill/>
        </p:spPr>
        <p:txBody>
          <a:bodyPr wrap="square">
            <a:spAutoFit/>
          </a:bodyPr>
          <a:lstStyle/>
          <a:p>
            <a:pPr marL="0" marR="0" indent="0" algn="l">
              <a:buNone/>
            </a:pPr>
            <a:r>
              <a:rPr lang="en-US" sz="1400" b="1" i="0" dirty="0">
                <a:solidFill>
                  <a:srgbClr val="1B1B1E"/>
                </a:solidFill>
                <a:effectLst/>
                <a:latin typeface="Inter"/>
              </a:rPr>
              <a:t>Interactive Property Finder </a:t>
            </a:r>
            <a:endParaRPr lang="en-US" sz="1050" b="1" i="0" dirty="0">
              <a:solidFill>
                <a:srgbClr val="1B1B1E"/>
              </a:solidFill>
              <a:effectLst/>
              <a:latin typeface="Inter"/>
            </a:endParaRPr>
          </a:p>
        </p:txBody>
      </p:sp>
      <p:sp>
        <p:nvSpPr>
          <p:cNvPr id="6" name="TextBox 5">
            <a:extLst>
              <a:ext uri="{FF2B5EF4-FFF2-40B4-BE49-F238E27FC236}">
                <a16:creationId xmlns:a16="http://schemas.microsoft.com/office/drawing/2014/main" id="{CC007E71-5190-8825-2D5A-577DE61C5FBD}"/>
              </a:ext>
            </a:extLst>
          </p:cNvPr>
          <p:cNvSpPr txBox="1"/>
          <p:nvPr/>
        </p:nvSpPr>
        <p:spPr>
          <a:xfrm>
            <a:off x="990600" y="533399"/>
            <a:ext cx="7848600" cy="6186309"/>
          </a:xfrm>
          <a:prstGeom prst="rect">
            <a:avLst/>
          </a:prstGeom>
          <a:noFill/>
        </p:spPr>
        <p:txBody>
          <a:bodyPr wrap="square">
            <a:spAutoFit/>
          </a:bodyPr>
          <a:lstStyle/>
          <a:p>
            <a:r>
              <a:rPr lang="en-US" dirty="0">
                <a:solidFill>
                  <a:schemeClr val="tx2"/>
                </a:solidFill>
              </a:rPr>
              <a:t>COMPONENT </a:t>
            </a:r>
            <a:r>
              <a:rPr lang="en-US" dirty="0" err="1">
                <a:solidFill>
                  <a:schemeClr val="tx2"/>
                </a:solidFill>
              </a:rPr>
              <a:t>SearchPage</a:t>
            </a:r>
            <a:r>
              <a:rPr lang="en-US" dirty="0">
                <a:solidFill>
                  <a:schemeClr val="tx2"/>
                </a:solidFill>
              </a:rPr>
              <a:t>:</a:t>
            </a:r>
          </a:p>
          <a:p>
            <a:r>
              <a:rPr lang="en-US" dirty="0">
                <a:solidFill>
                  <a:schemeClr val="tx2"/>
                </a:solidFill>
              </a:rPr>
              <a:t>    STATE </a:t>
            </a:r>
            <a:r>
              <a:rPr lang="en-US" dirty="0" err="1">
                <a:solidFill>
                  <a:schemeClr val="tx2"/>
                </a:solidFill>
              </a:rPr>
              <a:t>queryText</a:t>
            </a:r>
            <a:r>
              <a:rPr lang="en-US" dirty="0">
                <a:solidFill>
                  <a:schemeClr val="tx2"/>
                </a:solidFill>
              </a:rPr>
              <a:t> = ""</a:t>
            </a:r>
          </a:p>
          <a:p>
            <a:r>
              <a:rPr lang="en-US" dirty="0">
                <a:solidFill>
                  <a:schemeClr val="tx2"/>
                </a:solidFill>
              </a:rPr>
              <a:t>    STATE filters = { </a:t>
            </a:r>
            <a:r>
              <a:rPr lang="en-US" dirty="0" err="1">
                <a:solidFill>
                  <a:schemeClr val="tx2"/>
                </a:solidFill>
              </a:rPr>
              <a:t>priceRange</a:t>
            </a:r>
            <a:r>
              <a:rPr lang="en-US" dirty="0">
                <a:solidFill>
                  <a:schemeClr val="tx2"/>
                </a:solidFill>
              </a:rPr>
              <a:t>: [min, max], bedrooms: null, type: "all" }</a:t>
            </a:r>
          </a:p>
          <a:p>
            <a:r>
              <a:rPr lang="en-US" dirty="0">
                <a:solidFill>
                  <a:schemeClr val="tx2"/>
                </a:solidFill>
              </a:rPr>
              <a:t>    STATE properties = []</a:t>
            </a:r>
          </a:p>
          <a:p>
            <a:r>
              <a:rPr lang="en-US" dirty="0">
                <a:solidFill>
                  <a:schemeClr val="tx2"/>
                </a:solidFill>
              </a:rPr>
              <a:t>    STATE </a:t>
            </a:r>
            <a:r>
              <a:rPr lang="en-US" dirty="0" err="1">
                <a:solidFill>
                  <a:schemeClr val="tx2"/>
                </a:solidFill>
              </a:rPr>
              <a:t>activeMapCoordinates</a:t>
            </a:r>
            <a:r>
              <a:rPr lang="en-US" dirty="0">
                <a:solidFill>
                  <a:schemeClr val="tx2"/>
                </a:solidFill>
              </a:rPr>
              <a:t> = null</a:t>
            </a:r>
          </a:p>
          <a:p>
            <a:r>
              <a:rPr lang="en-US" dirty="0">
                <a:solidFill>
                  <a:schemeClr val="tx2"/>
                </a:solidFill>
              </a:rPr>
              <a:t>    EFFECT </a:t>
            </a:r>
            <a:r>
              <a:rPr lang="en-US" dirty="0" err="1">
                <a:solidFill>
                  <a:schemeClr val="tx2"/>
                </a:solidFill>
              </a:rPr>
              <a:t>OnMount</a:t>
            </a:r>
            <a:r>
              <a:rPr lang="en-US" dirty="0">
                <a:solidFill>
                  <a:schemeClr val="tx2"/>
                </a:solidFill>
              </a:rPr>
              <a:t>():</a:t>
            </a:r>
          </a:p>
          <a:p>
            <a:r>
              <a:rPr lang="en-US" dirty="0">
                <a:solidFill>
                  <a:schemeClr val="tx2"/>
                </a:solidFill>
              </a:rPr>
              <a:t>        // Pull baseline listings from </a:t>
            </a:r>
            <a:r>
              <a:rPr lang="en-US" dirty="0" err="1">
                <a:solidFill>
                  <a:schemeClr val="tx2"/>
                </a:solidFill>
              </a:rPr>
              <a:t>Firestore</a:t>
            </a:r>
            <a:endParaRPr lang="en-US" dirty="0">
              <a:solidFill>
                <a:schemeClr val="tx2"/>
              </a:solidFill>
            </a:endParaRPr>
          </a:p>
          <a:p>
            <a:r>
              <a:rPr lang="en-US" dirty="0">
                <a:solidFill>
                  <a:schemeClr val="tx2"/>
                </a:solidFill>
              </a:rPr>
              <a:t>        UNSUBSCRIBE = </a:t>
            </a:r>
            <a:r>
              <a:rPr lang="en-US" dirty="0" err="1">
                <a:solidFill>
                  <a:schemeClr val="tx2"/>
                </a:solidFill>
              </a:rPr>
              <a:t>FIRESTORE.SubscribeToCollection</a:t>
            </a:r>
            <a:r>
              <a:rPr lang="en-US" dirty="0">
                <a:solidFill>
                  <a:schemeClr val="tx2"/>
                </a:solidFill>
              </a:rPr>
              <a:t>("properties", (snapshot) =&gt; {</a:t>
            </a:r>
          </a:p>
          <a:p>
            <a:r>
              <a:rPr lang="en-US" dirty="0">
                <a:solidFill>
                  <a:schemeClr val="tx2"/>
                </a:solidFill>
              </a:rPr>
              <a:t>            SET properties = </a:t>
            </a:r>
            <a:r>
              <a:rPr lang="en-US" dirty="0" err="1">
                <a:solidFill>
                  <a:schemeClr val="tx2"/>
                </a:solidFill>
              </a:rPr>
              <a:t>snapshot.map</a:t>
            </a:r>
            <a:r>
              <a:rPr lang="en-US" dirty="0">
                <a:solidFill>
                  <a:schemeClr val="tx2"/>
                </a:solidFill>
              </a:rPr>
              <a:t>(doc =&gt; </a:t>
            </a:r>
            <a:r>
              <a:rPr lang="en-US" dirty="0" err="1">
                <a:solidFill>
                  <a:schemeClr val="tx2"/>
                </a:solidFill>
              </a:rPr>
              <a:t>doc.data</a:t>
            </a:r>
            <a:r>
              <a:rPr lang="en-US" dirty="0">
                <a:solidFill>
                  <a:schemeClr val="tx2"/>
                </a:solidFill>
              </a:rPr>
              <a:t>())</a:t>
            </a:r>
          </a:p>
          <a:p>
            <a:r>
              <a:rPr lang="en-US" dirty="0">
                <a:solidFill>
                  <a:schemeClr val="tx2"/>
                </a:solidFill>
              </a:rPr>
              <a:t>        })</a:t>
            </a:r>
          </a:p>
          <a:p>
            <a:r>
              <a:rPr lang="en-US" dirty="0">
                <a:solidFill>
                  <a:schemeClr val="tx2"/>
                </a:solidFill>
              </a:rPr>
              <a:t>        RETURN UNSUBSCRIBE</a:t>
            </a:r>
          </a:p>
          <a:p>
            <a:r>
              <a:rPr lang="en-US" dirty="0">
                <a:solidFill>
                  <a:schemeClr val="tx2"/>
                </a:solidFill>
              </a:rPr>
              <a:t>    FUNCTION </a:t>
            </a:r>
            <a:r>
              <a:rPr lang="en-US" dirty="0" err="1">
                <a:solidFill>
                  <a:schemeClr val="tx2"/>
                </a:solidFill>
              </a:rPr>
              <a:t>ApplyClientFilters</a:t>
            </a:r>
            <a:r>
              <a:rPr lang="en-US" dirty="0">
                <a:solidFill>
                  <a:schemeClr val="tx2"/>
                </a:solidFill>
              </a:rPr>
              <a:t>(listings):</a:t>
            </a:r>
          </a:p>
          <a:p>
            <a:r>
              <a:rPr lang="en-US" dirty="0">
                <a:solidFill>
                  <a:schemeClr val="tx2"/>
                </a:solidFill>
              </a:rPr>
              <a:t>        RETURN </a:t>
            </a:r>
            <a:r>
              <a:rPr lang="en-US" dirty="0" err="1">
                <a:solidFill>
                  <a:schemeClr val="tx2"/>
                </a:solidFill>
              </a:rPr>
              <a:t>listings.FILTER</a:t>
            </a:r>
            <a:r>
              <a:rPr lang="en-US" dirty="0">
                <a:solidFill>
                  <a:schemeClr val="tx2"/>
                </a:solidFill>
              </a:rPr>
              <a:t>(p =&gt; </a:t>
            </a:r>
          </a:p>
          <a:p>
            <a:r>
              <a:rPr lang="en-US" dirty="0">
                <a:solidFill>
                  <a:schemeClr val="tx2"/>
                </a:solidFill>
              </a:rPr>
              <a:t>            </a:t>
            </a:r>
            <a:r>
              <a:rPr lang="en-US" dirty="0" err="1">
                <a:solidFill>
                  <a:schemeClr val="tx2"/>
                </a:solidFill>
              </a:rPr>
              <a:t>p.title.Contains</a:t>
            </a:r>
            <a:r>
              <a:rPr lang="en-US" dirty="0">
                <a:solidFill>
                  <a:schemeClr val="tx2"/>
                </a:solidFill>
              </a:rPr>
              <a:t>(</a:t>
            </a:r>
            <a:r>
              <a:rPr lang="en-US" dirty="0" err="1">
                <a:solidFill>
                  <a:schemeClr val="tx2"/>
                </a:solidFill>
              </a:rPr>
              <a:t>queryText</a:t>
            </a:r>
            <a:r>
              <a:rPr lang="en-US" dirty="0">
                <a:solidFill>
                  <a:schemeClr val="tx2"/>
                </a:solidFill>
              </a:rPr>
              <a:t>) AND</a:t>
            </a:r>
          </a:p>
          <a:p>
            <a:r>
              <a:rPr lang="en-US" dirty="0">
                <a:solidFill>
                  <a:schemeClr val="tx2"/>
                </a:solidFill>
              </a:rPr>
              <a:t>            </a:t>
            </a:r>
            <a:r>
              <a:rPr lang="en-US" dirty="0" err="1">
                <a:solidFill>
                  <a:schemeClr val="tx2"/>
                </a:solidFill>
              </a:rPr>
              <a:t>p.price</a:t>
            </a:r>
            <a:r>
              <a:rPr lang="en-US" dirty="0">
                <a:solidFill>
                  <a:schemeClr val="tx2"/>
                </a:solidFill>
              </a:rPr>
              <a:t> &gt;= </a:t>
            </a:r>
            <a:r>
              <a:rPr lang="en-US" dirty="0" err="1">
                <a:solidFill>
                  <a:schemeClr val="tx2"/>
                </a:solidFill>
              </a:rPr>
              <a:t>filters.priceRange.min</a:t>
            </a:r>
            <a:r>
              <a:rPr lang="en-US" dirty="0">
                <a:solidFill>
                  <a:schemeClr val="tx2"/>
                </a:solidFill>
              </a:rPr>
              <a:t> AND</a:t>
            </a:r>
          </a:p>
          <a:p>
            <a:r>
              <a:rPr lang="en-US" dirty="0">
                <a:solidFill>
                  <a:schemeClr val="tx2"/>
                </a:solidFill>
              </a:rPr>
              <a:t>            </a:t>
            </a:r>
            <a:r>
              <a:rPr lang="en-US" dirty="0" err="1">
                <a:solidFill>
                  <a:schemeClr val="tx2"/>
                </a:solidFill>
              </a:rPr>
              <a:t>p.price</a:t>
            </a:r>
            <a:r>
              <a:rPr lang="en-US" dirty="0">
                <a:solidFill>
                  <a:schemeClr val="tx2"/>
                </a:solidFill>
              </a:rPr>
              <a:t> &lt;= </a:t>
            </a:r>
            <a:r>
              <a:rPr lang="en-US" dirty="0" err="1">
                <a:solidFill>
                  <a:schemeClr val="tx2"/>
                </a:solidFill>
              </a:rPr>
              <a:t>filters.priceRange.max</a:t>
            </a:r>
            <a:r>
              <a:rPr lang="en-US" dirty="0">
                <a:solidFill>
                  <a:schemeClr val="tx2"/>
                </a:solidFill>
              </a:rPr>
              <a:t> AND</a:t>
            </a:r>
          </a:p>
          <a:p>
            <a:r>
              <a:rPr lang="en-US" dirty="0">
                <a:solidFill>
                  <a:schemeClr val="tx2"/>
                </a:solidFill>
              </a:rPr>
              <a:t>            (</a:t>
            </a:r>
            <a:r>
              <a:rPr lang="en-US" dirty="0" err="1">
                <a:solidFill>
                  <a:schemeClr val="tx2"/>
                </a:solidFill>
              </a:rPr>
              <a:t>filters.bedrooms</a:t>
            </a:r>
            <a:r>
              <a:rPr lang="en-US" dirty="0">
                <a:solidFill>
                  <a:schemeClr val="tx2"/>
                </a:solidFill>
              </a:rPr>
              <a:t> == null OR </a:t>
            </a:r>
            <a:r>
              <a:rPr lang="en-US" dirty="0" err="1">
                <a:solidFill>
                  <a:schemeClr val="tx2"/>
                </a:solidFill>
              </a:rPr>
              <a:t>p.bedrooms</a:t>
            </a:r>
            <a:r>
              <a:rPr lang="en-US" dirty="0">
                <a:solidFill>
                  <a:schemeClr val="tx2"/>
                </a:solidFill>
              </a:rPr>
              <a:t> == </a:t>
            </a:r>
            <a:r>
              <a:rPr lang="en-US" dirty="0" err="1">
                <a:solidFill>
                  <a:schemeClr val="tx2"/>
                </a:solidFill>
              </a:rPr>
              <a:t>filters.bedrooms</a:t>
            </a:r>
            <a:r>
              <a:rPr lang="en-US" dirty="0">
                <a:solidFill>
                  <a:schemeClr val="tx2"/>
                </a:solidFill>
              </a:rPr>
              <a:t>)</a:t>
            </a:r>
          </a:p>
          <a:p>
            <a:r>
              <a:rPr lang="en-US" dirty="0">
                <a:solidFill>
                  <a:schemeClr val="tx2"/>
                </a:solidFill>
              </a:rPr>
              <a:t>        )</a:t>
            </a:r>
          </a:p>
          <a:p>
            <a:r>
              <a:rPr lang="en-US" dirty="0">
                <a:solidFill>
                  <a:schemeClr val="tx2"/>
                </a:solidFill>
              </a:rPr>
              <a:t>    RENDER:</a:t>
            </a:r>
          </a:p>
          <a:p>
            <a:r>
              <a:rPr lang="en-US" dirty="0">
                <a:solidFill>
                  <a:schemeClr val="tx2"/>
                </a:solidFill>
              </a:rPr>
              <a:t>        Filter Toolbar (Sliding Drawers, Dropdowns)</a:t>
            </a:r>
          </a:p>
          <a:p>
            <a:r>
              <a:rPr lang="en-US" dirty="0">
                <a:solidFill>
                  <a:schemeClr val="tx2"/>
                </a:solidFill>
              </a:rPr>
              <a:t>        Map Split-Pane &amp; Grid Cards of Match Listings</a:t>
            </a:r>
          </a:p>
        </p:txBody>
      </p:sp>
    </p:spTree>
    <p:extLst>
      <p:ext uri="{BB962C8B-B14F-4D97-AF65-F5344CB8AC3E}">
        <p14:creationId xmlns:p14="http://schemas.microsoft.com/office/powerpoint/2010/main" val="38298615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F66AA1-E66B-4E65-139D-7506D1B3545F}"/>
              </a:ext>
            </a:extLst>
          </p:cNvPr>
          <p:cNvSpPr>
            <a:spLocks noGrp="1"/>
          </p:cNvSpPr>
          <p:nvPr>
            <p:ph type="sldNum" sz="quarter" idx="12"/>
          </p:nvPr>
        </p:nvSpPr>
        <p:spPr/>
        <p:txBody>
          <a:bodyPr/>
          <a:lstStyle/>
          <a:p>
            <a:fld id="{DC2A8C5E-5ACC-4DAB-B41C-5718F8C58B6D}" type="slidenum">
              <a:rPr lang="en-US" smtClean="0"/>
              <a:pPr/>
              <a:t>23</a:t>
            </a:fld>
            <a:endParaRPr lang="en-US"/>
          </a:p>
        </p:txBody>
      </p:sp>
      <p:sp>
        <p:nvSpPr>
          <p:cNvPr id="4" name="TextBox 3">
            <a:extLst>
              <a:ext uri="{FF2B5EF4-FFF2-40B4-BE49-F238E27FC236}">
                <a16:creationId xmlns:a16="http://schemas.microsoft.com/office/drawing/2014/main" id="{146F483B-2BB3-F493-1446-595C172FEA69}"/>
              </a:ext>
            </a:extLst>
          </p:cNvPr>
          <p:cNvSpPr txBox="1"/>
          <p:nvPr/>
        </p:nvSpPr>
        <p:spPr>
          <a:xfrm>
            <a:off x="0" y="136525"/>
            <a:ext cx="6705600" cy="307777"/>
          </a:xfrm>
          <a:prstGeom prst="rect">
            <a:avLst/>
          </a:prstGeom>
          <a:noFill/>
        </p:spPr>
        <p:txBody>
          <a:bodyPr wrap="square">
            <a:spAutoFit/>
          </a:bodyPr>
          <a:lstStyle/>
          <a:p>
            <a:pPr marL="0" marR="0" indent="0" algn="l">
              <a:buNone/>
            </a:pPr>
            <a:r>
              <a:rPr lang="en-US" sz="1400" b="1" i="0" dirty="0">
                <a:solidFill>
                  <a:srgbClr val="1B1B1E"/>
                </a:solidFill>
                <a:effectLst/>
                <a:latin typeface="Inter"/>
              </a:rPr>
              <a:t> AI Predictive Valuation Engine </a:t>
            </a:r>
          </a:p>
        </p:txBody>
      </p:sp>
      <p:sp>
        <p:nvSpPr>
          <p:cNvPr id="6" name="TextBox 5">
            <a:extLst>
              <a:ext uri="{FF2B5EF4-FFF2-40B4-BE49-F238E27FC236}">
                <a16:creationId xmlns:a16="http://schemas.microsoft.com/office/drawing/2014/main" id="{F7C7E686-9F83-CA2E-92EA-7EF64C68B57C}"/>
              </a:ext>
            </a:extLst>
          </p:cNvPr>
          <p:cNvSpPr txBox="1"/>
          <p:nvPr/>
        </p:nvSpPr>
        <p:spPr>
          <a:xfrm>
            <a:off x="1066800" y="444302"/>
            <a:ext cx="6858000" cy="6186309"/>
          </a:xfrm>
          <a:prstGeom prst="rect">
            <a:avLst/>
          </a:prstGeom>
          <a:noFill/>
        </p:spPr>
        <p:txBody>
          <a:bodyPr wrap="square">
            <a:spAutoFit/>
          </a:bodyPr>
          <a:lstStyle/>
          <a:p>
            <a:r>
              <a:rPr lang="en-US" dirty="0">
                <a:solidFill>
                  <a:schemeClr val="tx2"/>
                </a:solidFill>
              </a:rPr>
              <a:t>COMPONENT </a:t>
            </a:r>
            <a:r>
              <a:rPr lang="en-US" dirty="0" err="1">
                <a:solidFill>
                  <a:schemeClr val="tx2"/>
                </a:solidFill>
              </a:rPr>
              <a:t>AIPredictor</a:t>
            </a:r>
            <a:r>
              <a:rPr lang="en-US" dirty="0">
                <a:solidFill>
                  <a:schemeClr val="tx2"/>
                </a:solidFill>
              </a:rPr>
              <a:t>:</a:t>
            </a:r>
          </a:p>
          <a:p>
            <a:r>
              <a:rPr lang="en-US" dirty="0">
                <a:solidFill>
                  <a:schemeClr val="tx2"/>
                </a:solidFill>
              </a:rPr>
              <a:t>    STATE </a:t>
            </a:r>
            <a:r>
              <a:rPr lang="en-US" dirty="0" err="1">
                <a:solidFill>
                  <a:schemeClr val="tx2"/>
                </a:solidFill>
              </a:rPr>
              <a:t>inputDetails</a:t>
            </a:r>
            <a:r>
              <a:rPr lang="en-US" dirty="0">
                <a:solidFill>
                  <a:schemeClr val="tx2"/>
                </a:solidFill>
              </a:rPr>
              <a:t> = { location: "", area: 5, </a:t>
            </a:r>
            <a:r>
              <a:rPr lang="en-US" dirty="0" err="1">
                <a:solidFill>
                  <a:schemeClr val="tx2"/>
                </a:solidFill>
              </a:rPr>
              <a:t>areaUnit</a:t>
            </a:r>
            <a:r>
              <a:rPr lang="en-US" dirty="0">
                <a:solidFill>
                  <a:schemeClr val="tx2"/>
                </a:solidFill>
              </a:rPr>
              <a:t>: "Marla", bedrooms: 3, bathrooms: 3, type: "House" }</a:t>
            </a:r>
          </a:p>
          <a:p>
            <a:r>
              <a:rPr lang="en-US" dirty="0">
                <a:solidFill>
                  <a:schemeClr val="tx2"/>
                </a:solidFill>
              </a:rPr>
              <a:t>    STATE </a:t>
            </a:r>
            <a:r>
              <a:rPr lang="en-US" dirty="0" err="1">
                <a:solidFill>
                  <a:schemeClr val="tx2"/>
                </a:solidFill>
              </a:rPr>
              <a:t>predictionResult</a:t>
            </a:r>
            <a:r>
              <a:rPr lang="en-US" dirty="0">
                <a:solidFill>
                  <a:schemeClr val="tx2"/>
                </a:solidFill>
              </a:rPr>
              <a:t> = null</a:t>
            </a:r>
          </a:p>
          <a:p>
            <a:r>
              <a:rPr lang="en-US" dirty="0">
                <a:solidFill>
                  <a:schemeClr val="tx2"/>
                </a:solidFill>
              </a:rPr>
              <a:t>    STATE </a:t>
            </a:r>
            <a:r>
              <a:rPr lang="en-US" dirty="0" err="1">
                <a:solidFill>
                  <a:schemeClr val="tx2"/>
                </a:solidFill>
              </a:rPr>
              <a:t>isLoading</a:t>
            </a:r>
            <a:r>
              <a:rPr lang="en-US" dirty="0">
                <a:solidFill>
                  <a:schemeClr val="tx2"/>
                </a:solidFill>
              </a:rPr>
              <a:t> = false</a:t>
            </a:r>
          </a:p>
          <a:p>
            <a:endParaRPr lang="en-US" dirty="0">
              <a:solidFill>
                <a:schemeClr val="tx2"/>
              </a:solidFill>
            </a:endParaRPr>
          </a:p>
          <a:p>
            <a:r>
              <a:rPr lang="en-US" dirty="0">
                <a:solidFill>
                  <a:schemeClr val="tx2"/>
                </a:solidFill>
              </a:rPr>
              <a:t>    ON </a:t>
            </a:r>
            <a:r>
              <a:rPr lang="en-US" dirty="0" err="1">
                <a:solidFill>
                  <a:schemeClr val="tx2"/>
                </a:solidFill>
              </a:rPr>
              <a:t>TriggerAIAnalysis</a:t>
            </a:r>
            <a:r>
              <a:rPr lang="en-US" dirty="0">
                <a:solidFill>
                  <a:schemeClr val="tx2"/>
                </a:solidFill>
              </a:rPr>
              <a:t>():</a:t>
            </a:r>
          </a:p>
          <a:p>
            <a:r>
              <a:rPr lang="en-US" dirty="0">
                <a:solidFill>
                  <a:schemeClr val="tx2"/>
                </a:solidFill>
              </a:rPr>
              <a:t>        SET </a:t>
            </a:r>
            <a:r>
              <a:rPr lang="en-US" dirty="0" err="1">
                <a:solidFill>
                  <a:schemeClr val="tx2"/>
                </a:solidFill>
              </a:rPr>
              <a:t>isLoading</a:t>
            </a:r>
            <a:r>
              <a:rPr lang="en-US" dirty="0">
                <a:solidFill>
                  <a:schemeClr val="tx2"/>
                </a:solidFill>
              </a:rPr>
              <a:t> = true</a:t>
            </a:r>
          </a:p>
          <a:p>
            <a:r>
              <a:rPr lang="en-US" dirty="0">
                <a:solidFill>
                  <a:schemeClr val="tx2"/>
                </a:solidFill>
              </a:rPr>
              <a:t>        TRY:</a:t>
            </a:r>
          </a:p>
          <a:p>
            <a:r>
              <a:rPr lang="en-US" dirty="0">
                <a:solidFill>
                  <a:schemeClr val="tx2"/>
                </a:solidFill>
              </a:rPr>
              <a:t>            RESULT = CALL </a:t>
            </a:r>
            <a:r>
              <a:rPr lang="en-US" dirty="0" err="1">
                <a:solidFill>
                  <a:schemeClr val="tx2"/>
                </a:solidFill>
              </a:rPr>
              <a:t>predictPropertyPrice</a:t>
            </a:r>
            <a:r>
              <a:rPr lang="en-US" dirty="0">
                <a:solidFill>
                  <a:schemeClr val="tx2"/>
                </a:solidFill>
              </a:rPr>
              <a:t>(</a:t>
            </a:r>
            <a:r>
              <a:rPr lang="en-US" dirty="0" err="1">
                <a:solidFill>
                  <a:schemeClr val="tx2"/>
                </a:solidFill>
              </a:rPr>
              <a:t>inputDetails</a:t>
            </a:r>
            <a:r>
              <a:rPr lang="en-US" dirty="0">
                <a:solidFill>
                  <a:schemeClr val="tx2"/>
                </a:solidFill>
              </a:rPr>
              <a:t>)</a:t>
            </a:r>
          </a:p>
          <a:p>
            <a:r>
              <a:rPr lang="en-US" dirty="0">
                <a:solidFill>
                  <a:schemeClr val="tx2"/>
                </a:solidFill>
              </a:rPr>
              <a:t>            SET </a:t>
            </a:r>
            <a:r>
              <a:rPr lang="en-US" dirty="0" err="1">
                <a:solidFill>
                  <a:schemeClr val="tx2"/>
                </a:solidFill>
              </a:rPr>
              <a:t>predictionResult</a:t>
            </a:r>
            <a:r>
              <a:rPr lang="en-US" dirty="0">
                <a:solidFill>
                  <a:schemeClr val="tx2"/>
                </a:solidFill>
              </a:rPr>
              <a:t> = RESULT</a:t>
            </a:r>
          </a:p>
          <a:p>
            <a:r>
              <a:rPr lang="en-US" dirty="0">
                <a:solidFill>
                  <a:schemeClr val="tx2"/>
                </a:solidFill>
              </a:rPr>
              <a:t>        CATCH (err):</a:t>
            </a:r>
          </a:p>
          <a:p>
            <a:r>
              <a:rPr lang="en-US" dirty="0">
                <a:solidFill>
                  <a:schemeClr val="tx2"/>
                </a:solidFill>
              </a:rPr>
              <a:t>            DISPLAY Notification("AI Service Temporarily Offline")</a:t>
            </a:r>
          </a:p>
          <a:p>
            <a:r>
              <a:rPr lang="en-US" dirty="0">
                <a:solidFill>
                  <a:schemeClr val="tx2"/>
                </a:solidFill>
              </a:rPr>
              <a:t>        FINALLY:</a:t>
            </a:r>
          </a:p>
          <a:p>
            <a:r>
              <a:rPr lang="en-US" dirty="0">
                <a:solidFill>
                  <a:schemeClr val="tx2"/>
                </a:solidFill>
              </a:rPr>
              <a:t>            SET </a:t>
            </a:r>
            <a:r>
              <a:rPr lang="en-US" dirty="0" err="1">
                <a:solidFill>
                  <a:schemeClr val="tx2"/>
                </a:solidFill>
              </a:rPr>
              <a:t>isLoading</a:t>
            </a:r>
            <a:r>
              <a:rPr lang="en-US" dirty="0">
                <a:solidFill>
                  <a:schemeClr val="tx2"/>
                </a:solidFill>
              </a:rPr>
              <a:t> = false</a:t>
            </a:r>
          </a:p>
          <a:p>
            <a:endParaRPr lang="en-US" dirty="0">
              <a:solidFill>
                <a:schemeClr val="tx2"/>
              </a:solidFill>
            </a:endParaRPr>
          </a:p>
          <a:p>
            <a:r>
              <a:rPr lang="en-US" dirty="0">
                <a:solidFill>
                  <a:schemeClr val="tx2"/>
                </a:solidFill>
              </a:rPr>
              <a:t>    RENDER:</a:t>
            </a:r>
          </a:p>
          <a:p>
            <a:r>
              <a:rPr lang="en-US" dirty="0">
                <a:solidFill>
                  <a:schemeClr val="tx2"/>
                </a:solidFill>
              </a:rPr>
              <a:t>        Property Specification Cards (Inputs)</a:t>
            </a:r>
          </a:p>
          <a:p>
            <a:r>
              <a:rPr lang="en-US" dirty="0">
                <a:solidFill>
                  <a:schemeClr val="tx2"/>
                </a:solidFill>
              </a:rPr>
              <a:t>        IF </a:t>
            </a:r>
            <a:r>
              <a:rPr lang="en-US" dirty="0" err="1">
                <a:solidFill>
                  <a:schemeClr val="tx2"/>
                </a:solidFill>
              </a:rPr>
              <a:t>isLoading</a:t>
            </a:r>
            <a:r>
              <a:rPr lang="en-US" dirty="0">
                <a:solidFill>
                  <a:schemeClr val="tx2"/>
                </a:solidFill>
              </a:rPr>
              <a:t>: Display Animated Shimmer Effects</a:t>
            </a:r>
          </a:p>
          <a:p>
            <a:r>
              <a:rPr lang="en-US" dirty="0">
                <a:solidFill>
                  <a:schemeClr val="tx2"/>
                </a:solidFill>
              </a:rPr>
              <a:t>        IF </a:t>
            </a:r>
            <a:r>
              <a:rPr lang="en-US" dirty="0" err="1">
                <a:solidFill>
                  <a:schemeClr val="tx2"/>
                </a:solidFill>
              </a:rPr>
              <a:t>predictionResult</a:t>
            </a:r>
            <a:r>
              <a:rPr lang="en-US" dirty="0">
                <a:solidFill>
                  <a:schemeClr val="tx2"/>
                </a:solidFill>
              </a:rPr>
              <a:t>:</a:t>
            </a:r>
          </a:p>
          <a:p>
            <a:r>
              <a:rPr lang="en-US" dirty="0">
                <a:solidFill>
                  <a:schemeClr val="tx2"/>
                </a:solidFill>
              </a:rPr>
              <a:t>            Display Estimated price with custom gauge meters</a:t>
            </a:r>
          </a:p>
          <a:p>
            <a:r>
              <a:rPr lang="en-US" dirty="0">
                <a:solidFill>
                  <a:schemeClr val="tx2"/>
                </a:solidFill>
              </a:rPr>
              <a:t>            Display AI narrative insights on current localization trends</a:t>
            </a:r>
          </a:p>
        </p:txBody>
      </p:sp>
    </p:spTree>
    <p:extLst>
      <p:ext uri="{BB962C8B-B14F-4D97-AF65-F5344CB8AC3E}">
        <p14:creationId xmlns:p14="http://schemas.microsoft.com/office/powerpoint/2010/main" val="7514976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Schedule </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Gantt Chart</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24</a:t>
            </a:fld>
            <a:endParaRPr lang="en-US">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E6B2E7E-8982-17CA-9517-76FA0069AA66}"/>
              </a:ext>
            </a:extLst>
          </p:cNvPr>
          <p:cNvPicPr>
            <a:picLocks noChangeAspect="1"/>
          </p:cNvPicPr>
          <p:nvPr/>
        </p:nvPicPr>
        <p:blipFill>
          <a:blip r:embed="rId2"/>
          <a:stretch>
            <a:fillRect/>
          </a:stretch>
        </p:blipFill>
        <p:spPr>
          <a:xfrm>
            <a:off x="1202055" y="2062345"/>
            <a:ext cx="6417945" cy="452101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Details of 1</a:t>
            </a:r>
            <a:r>
              <a:rPr lang="en-US" baseline="30000" dirty="0">
                <a:latin typeface="Times New Roman" panose="02020603050405020304" pitchFamily="18" charset="0"/>
                <a:cs typeface="Times New Roman" panose="02020603050405020304" pitchFamily="18" charset="0"/>
              </a:rPr>
              <a:t>st</a:t>
            </a:r>
            <a:r>
              <a:rPr lang="en-US" dirty="0">
                <a:latin typeface="Times New Roman" panose="02020603050405020304" pitchFamily="18" charset="0"/>
                <a:cs typeface="Times New Roman" panose="02020603050405020304" pitchFamily="18" charset="0"/>
              </a:rPr>
              <a:t> Iteration (30%)</a:t>
            </a:r>
          </a:p>
        </p:txBody>
      </p:sp>
      <p:sp>
        <p:nvSpPr>
          <p:cNvPr id="3" name="Content Placeholder 2"/>
          <p:cNvSpPr>
            <a:spLocks noGrp="1"/>
          </p:cNvSpPr>
          <p:nvPr>
            <p:ph idx="1"/>
          </p:nvPr>
        </p:nvSpPr>
        <p:spPr/>
        <p:txBody>
          <a:bodyPr>
            <a:normAutofit/>
          </a:bodyPr>
          <a:lstStyle/>
          <a:p>
            <a:pPr marL="0" indent="0">
              <a:buNone/>
            </a:pPr>
            <a:endParaRPr lang="en-US" i="1" dirty="0">
              <a:solidFill>
                <a:schemeClr val="bg1">
                  <a:lumMod val="75000"/>
                </a:schemeClr>
              </a:solidFill>
              <a:latin typeface="Times New Roman" panose="02020603050405020304" pitchFamily="18" charset="0"/>
              <a:cs typeface="Times New Roman" panose="02020603050405020304" pitchFamily="18" charset="0"/>
            </a:endParaRPr>
          </a:p>
          <a:p>
            <a:pPr marL="0" indent="0">
              <a:buNone/>
            </a:pPr>
            <a:r>
              <a:rPr lang="en-US" b="1" dirty="0"/>
              <a:t>Work Completed</a:t>
            </a:r>
            <a:r>
              <a:rPr lang="en-US" dirty="0"/>
              <a:t>:</a:t>
            </a:r>
          </a:p>
          <a:p>
            <a:pPr lvl="1"/>
            <a:r>
              <a:rPr lang="en-US" sz="1600" b="1" dirty="0"/>
              <a:t>2 Core Modules Developed</a:t>
            </a:r>
            <a:r>
              <a:rPr lang="en-US" sz="1600" dirty="0"/>
              <a:t> – Functionally designed and coded as per initial requirements.</a:t>
            </a:r>
          </a:p>
          <a:p>
            <a:pPr lvl="1"/>
            <a:r>
              <a:rPr lang="en-US" sz="1600" b="1" dirty="0"/>
              <a:t>SRS Document</a:t>
            </a:r>
            <a:r>
              <a:rPr lang="en-US" sz="1600" dirty="0"/>
              <a:t> – Complete Software Requirements Specification covering functional and non-functional requirements, user stories, and system constraints.</a:t>
            </a:r>
          </a:p>
          <a:p>
            <a:pPr lvl="1"/>
            <a:r>
              <a:rPr lang="en-US" sz="1600" b="1" dirty="0"/>
              <a:t>SDD Document</a:t>
            </a:r>
            <a:r>
              <a:rPr lang="en-US" sz="1600" dirty="0"/>
              <a:t> – Detailed Software Design Document including system architecture, module design, database schema, and interface specifications.</a:t>
            </a:r>
          </a:p>
          <a:p>
            <a:pPr lvl="1"/>
            <a:r>
              <a:rPr lang="en-US" sz="1600" b="1" dirty="0"/>
              <a:t>Diagrams</a:t>
            </a:r>
            <a:r>
              <a:rPr lang="en-US" sz="1600" dirty="0"/>
              <a:t> – Created essential UML diagrams such as Use Case, Class, Sequence, and ER diagrams to visualize system structure and workflows.</a:t>
            </a:r>
          </a:p>
          <a:p>
            <a:endParaRPr lang="en-US" i="1"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25</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25257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Details of 2</a:t>
            </a:r>
            <a:r>
              <a:rPr lang="en-US" baseline="30000" dirty="0">
                <a:latin typeface="Times New Roman" panose="02020603050405020304" pitchFamily="18" charset="0"/>
                <a:cs typeface="Times New Roman" panose="02020603050405020304" pitchFamily="18" charset="0"/>
              </a:rPr>
              <a:t>nd</a:t>
            </a:r>
            <a:r>
              <a:rPr lang="en-US" dirty="0">
                <a:latin typeface="Times New Roman" panose="02020603050405020304" pitchFamily="18" charset="0"/>
                <a:cs typeface="Times New Roman" panose="02020603050405020304" pitchFamily="18" charset="0"/>
              </a:rPr>
              <a:t> Iteration (60%)</a:t>
            </a:r>
          </a:p>
        </p:txBody>
      </p:sp>
      <p:sp>
        <p:nvSpPr>
          <p:cNvPr id="3" name="Content Placeholder 2"/>
          <p:cNvSpPr>
            <a:spLocks noGrp="1"/>
          </p:cNvSpPr>
          <p:nvPr>
            <p:ph idx="1"/>
          </p:nvPr>
        </p:nvSpPr>
        <p:spPr/>
        <p:txBody>
          <a:bodyPr/>
          <a:lstStyle/>
          <a:p>
            <a:r>
              <a:rPr lang="en-US" i="1" dirty="0">
                <a:solidFill>
                  <a:schemeClr val="bg1">
                    <a:lumMod val="75000"/>
                  </a:schemeClr>
                </a:solidFill>
                <a:latin typeface="Times New Roman" panose="02020603050405020304" pitchFamily="18" charset="0"/>
                <a:cs typeface="Times New Roman" panose="02020603050405020304" pitchFamily="18" charset="0"/>
              </a:rPr>
              <a:t>What will completed as per Gantt Chart in 60%</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26</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25257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p:txBody>
          <a:bodyPr>
            <a:normAutofit/>
          </a:bodyPr>
          <a:lstStyle/>
          <a:p>
            <a:r>
              <a:rPr lang="en-US" sz="1400" dirty="0"/>
              <a:t>In summary, the project has achieved its first major milestone with the on-time delivery of two core modules, SRS, SDD, and all critical design diagrams. This phase has finalized the 'what' and 'how' of the system, providing clear traceability from requirements to design. The documentation and prototypes are aligned, and no major blockers have been identified. We are ready to proceed to the next sprint with a stable and validated baseline.</a:t>
            </a:r>
            <a:endParaRPr lang="en-US"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pPr/>
              <a:t>27</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687</TotalTime>
  <Words>1864</Words>
  <Application>Microsoft Office PowerPoint</Application>
  <PresentationFormat>On-screen Show (4:3)</PresentationFormat>
  <Paragraphs>245</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Inter</vt:lpstr>
      <vt:lpstr>Times New Roman</vt:lpstr>
      <vt:lpstr>Office Theme</vt:lpstr>
      <vt:lpstr>Project Title: House Buying &amp; Selling with Price Prediction</vt:lpstr>
      <vt:lpstr>Agenda of the Presentation</vt:lpstr>
      <vt:lpstr>Brief Introduction</vt:lpstr>
      <vt:lpstr>Scope</vt:lpstr>
      <vt:lpstr>Functional Requirements</vt:lpstr>
      <vt:lpstr>Non-Functional Requirements</vt:lpstr>
      <vt:lpstr>User Goals </vt:lpstr>
      <vt:lpstr>Use Cases </vt:lpstr>
      <vt:lpstr>Use Case Diagram </vt:lpstr>
      <vt:lpstr>Class Diagram </vt:lpstr>
      <vt:lpstr>Sequence Diagram For Buyer </vt:lpstr>
      <vt:lpstr>For Admin</vt:lpstr>
      <vt:lpstr>For Seller</vt:lpstr>
      <vt:lpstr>System Sequence Diagram </vt:lpstr>
      <vt:lpstr>Activity/State Machine Diagram </vt:lpstr>
      <vt:lpstr>Json Tree</vt:lpstr>
      <vt:lpstr>Package Diagram </vt:lpstr>
      <vt:lpstr>Deployment Diagram </vt:lpstr>
      <vt:lpstr> Pseudocode </vt:lpstr>
      <vt:lpstr>PowerPoint Presentation</vt:lpstr>
      <vt:lpstr>PowerPoint Presentation</vt:lpstr>
      <vt:lpstr>PowerPoint Presentation</vt:lpstr>
      <vt:lpstr>PowerPoint Presentation</vt:lpstr>
      <vt:lpstr>Schedule </vt:lpstr>
      <vt:lpstr>Details of 1st Iteration (30%)</vt:lpstr>
      <vt:lpstr>Details of 2nd Iteration (60%)</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USER</dc:creator>
  <cp:lastModifiedBy>SP23-BSE-088(Shehzad Ahmad )</cp:lastModifiedBy>
  <cp:revision>27</cp:revision>
  <dcterms:created xsi:type="dcterms:W3CDTF">2013-09-23T09:08:15Z</dcterms:created>
  <dcterms:modified xsi:type="dcterms:W3CDTF">2026-07-15T17:07:04Z</dcterms:modified>
</cp:coreProperties>
</file>