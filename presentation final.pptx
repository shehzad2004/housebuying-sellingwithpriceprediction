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77" r:id="rId7"/>
    <p:sldId id="261" r:id="rId8"/>
    <p:sldId id="263" r:id="rId9"/>
    <p:sldId id="264" r:id="rId10"/>
    <p:sldId id="265" r:id="rId11"/>
    <p:sldId id="266" r:id="rId12"/>
    <p:sldId id="267" r:id="rId13"/>
    <p:sldId id="273" r:id="rId14"/>
    <p:sldId id="274" r:id="rId15"/>
    <p:sldId id="27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30"/>
    <p:restoredTop sz="94598"/>
  </p:normalViewPr>
  <p:slideViewPr>
    <p:cSldViewPr>
      <p:cViewPr varScale="1">
        <p:scale>
          <a:sx n="60" d="100"/>
          <a:sy n="60" d="100"/>
        </p:scale>
        <p:origin x="720" y="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B86B37-9E7C-4699-A89E-72EE4B291650}" type="datetimeFigureOut">
              <a:rPr lang="en-US" smtClean="0"/>
              <a:pPr/>
              <a:t>5/14/2026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EFE787-E5F2-40C5-9D43-E7EAF8E51FDF}" type="slidenum">
              <a:rPr lang="en-US" smtClean="0"/>
              <a:pPr/>
              <a:t>‹#›</a:t>
            </a:fld>
            <a:endParaRPr lang="en-US"/>
          </a:p>
        </p:txBody>
      </p:sp>
    </p:spTree>
    <p:extLst>
      <p:ext uri="{BB962C8B-B14F-4D97-AF65-F5344CB8AC3E}">
        <p14:creationId xmlns:p14="http://schemas.microsoft.com/office/powerpoint/2010/main" val="1227485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7D89F-69BA-45D8-85C1-789124DFB921}" type="datetime1">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F83749-7540-4838-B5FB-EDC40CB84DB0}" type="datetime1">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1A8085-18D1-4091-8AD3-81F140965EFC}" type="datetime1">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ACD35F7-97F8-4D2E-B83D-158766068E0A}" type="datetime1">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3EFADE-B1F7-484F-89D9-3E148D53B52B}" type="datetime1">
              <a:rPr lang="en-US" smtClean="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9F378E-9541-4F7D-BD6F-302448FBBB81}" type="datetime1">
              <a:rPr lang="en-US" smtClean="0"/>
              <a:pPr/>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26370F-658E-452B-A4D5-DB4240E0AF51}" type="datetime1">
              <a:rPr lang="en-US" smtClean="0"/>
              <a:pPr/>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8E6F0-0C4F-4052-A284-495110A822E2}" type="datetime1">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4C22A7-5E39-4CEE-A6B3-52DA5303DD53}" type="datetime1">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641830-9FBF-4C58-837A-230882702FD4}" type="datetime1">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1B8442-52C5-4632-BA82-04F7AD4C9B34}" type="datetime1">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8188C4-8F03-4988-A683-AFCBDCFC6ED7}" type="datetime1">
              <a:rPr lang="en-US" smtClean="0"/>
              <a:pPr/>
              <a:t>5/14/2026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2A8C5E-5ACC-4DAB-B41C-5718F8C58B6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zameen.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socket.io/"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zameen.co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lvl="0">
              <a:buNone/>
            </a:pPr>
            <a:r>
              <a:rPr lang="en-US" sz="3600" b="1" dirty="0">
                <a:latin typeface="Times New Roman" panose="02020603050405020304" pitchFamily="18" charset="0"/>
                <a:cs typeface="Times New Roman" panose="02020603050405020304" pitchFamily="18" charset="0"/>
              </a:rPr>
              <a:t>House Buying &amp; Selling With Price Prediction</a:t>
            </a:r>
          </a:p>
        </p:txBody>
      </p:sp>
      <p:sp>
        <p:nvSpPr>
          <p:cNvPr id="3" name="Subtitle 2"/>
          <p:cNvSpPr>
            <a:spLocks noGrp="1"/>
          </p:cNvSpPr>
          <p:nvPr>
            <p:ph type="subTitle" idx="1"/>
          </p:nvPr>
        </p:nvSpPr>
        <p:spPr>
          <a:xfrm>
            <a:off x="2895600" y="3886200"/>
            <a:ext cx="6400800" cy="1676400"/>
          </a:xfrm>
        </p:spPr>
        <p:txBody>
          <a:bodyPr>
            <a:normAutofit fontScale="92500" lnSpcReduction="20000"/>
          </a:bodyPr>
          <a:lstStyle/>
          <a:p>
            <a:pPr lvl="0">
              <a:buNone/>
            </a:pPr>
            <a:r>
              <a:rPr lang="en-US" sz="2300" dirty="0">
                <a:latin typeface="Times New Roman" panose="02020603050405020304" pitchFamily="18" charset="0"/>
                <a:cs typeface="Times New Roman" panose="02020603050405020304" pitchFamily="18" charset="0"/>
              </a:rPr>
              <a:t>Shehzad Ahmad  (SP23-BSE-088/ATD)</a:t>
            </a:r>
          </a:p>
          <a:p>
            <a:r>
              <a:rPr lang="en-US" sz="2300" dirty="0">
                <a:latin typeface="Times New Roman" panose="02020603050405020304" pitchFamily="18" charset="0"/>
                <a:cs typeface="Times New Roman" panose="02020603050405020304" pitchFamily="18" charset="0"/>
              </a:rPr>
              <a:t>Abbas Khan        (SP23-BSE-115/ATD)</a:t>
            </a:r>
          </a:p>
          <a:p>
            <a:pPr lvl="0">
              <a:buNone/>
            </a:pPr>
            <a:r>
              <a:rPr lang="en-US" sz="2300" dirty="0">
                <a:latin typeface="Times New Roman" panose="02020603050405020304" pitchFamily="18" charset="0"/>
                <a:cs typeface="Times New Roman" panose="02020603050405020304" pitchFamily="18" charset="0"/>
              </a:rPr>
              <a:t>M. Ahmad Khan  (SP23-BSE-137/ATD)</a:t>
            </a:r>
          </a:p>
          <a:p>
            <a:pPr lvl="0">
              <a:buNone/>
            </a:pPr>
            <a:endParaRPr lang="en-US" sz="2300" dirty="0">
              <a:latin typeface="Times New Roman" panose="02020603050405020304" pitchFamily="18" charset="0"/>
              <a:cs typeface="Times New Roman" panose="02020603050405020304" pitchFamily="18" charset="0"/>
            </a:endParaRPr>
          </a:p>
          <a:p>
            <a:pPr lvl="0">
              <a:buNone/>
            </a:pPr>
            <a:r>
              <a:rPr lang="en-US" sz="2000" dirty="0">
                <a:latin typeface="Times New Roman" panose="02020603050405020304" pitchFamily="18" charset="0"/>
                <a:cs typeface="Times New Roman" panose="02020603050405020304" pitchFamily="18" charset="0"/>
              </a:rPr>
              <a:t>Supervisor: Ahmed Ali</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a:t>
            </a:fld>
            <a:endParaRPr lang="en-US" dirty="0">
              <a:latin typeface="Times New Roman" panose="02020603050405020304" pitchFamily="18" charset="0"/>
              <a:cs typeface="Times New Roman" panose="02020603050405020304" pitchFamily="18" charset="0"/>
            </a:endParaRPr>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981201" y="5785486"/>
            <a:ext cx="996315" cy="996315"/>
          </a:xfrm>
          <a:prstGeom prst="rect">
            <a:avLst/>
          </a:prstGeom>
          <a:noFill/>
        </p:spPr>
      </p:pic>
      <p:sp>
        <p:nvSpPr>
          <p:cNvPr id="6" name="Subtitle 2"/>
          <p:cNvSpPr txBox="1">
            <a:spLocks/>
          </p:cNvSpPr>
          <p:nvPr/>
        </p:nvSpPr>
        <p:spPr>
          <a:xfrm>
            <a:off x="3200400" y="5943600"/>
            <a:ext cx="6096000" cy="838200"/>
          </a:xfrm>
          <a:prstGeom prst="rect">
            <a:avLst/>
          </a:prstGeom>
        </p:spPr>
        <p:txBody>
          <a:bodyPr vert="horz" lIns="91440" tIns="45720" rIns="91440" bIns="45720" rtlCol="0">
            <a:normAutofit fontScale="92500" lnSpcReduction="10000"/>
          </a:bodyPr>
          <a:lstStyle/>
          <a:p>
            <a:pPr algn="ctr">
              <a:spcBef>
                <a:spcPct val="20000"/>
              </a:spcBef>
              <a:defRPr/>
            </a:pPr>
            <a:r>
              <a:rPr lang="en-US" sz="2800" dirty="0">
                <a:solidFill>
                  <a:schemeClr val="tx1">
                    <a:tint val="75000"/>
                  </a:schemeClr>
                </a:solidFill>
                <a:latin typeface="Times New Roman" panose="02020603050405020304" pitchFamily="18" charset="0"/>
                <a:cs typeface="Times New Roman" panose="02020603050405020304" pitchFamily="18" charset="0"/>
              </a:rPr>
              <a:t>Department of Computer Science</a:t>
            </a:r>
          </a:p>
          <a:p>
            <a:pPr algn="ctr">
              <a:spcBef>
                <a:spcPct val="20000"/>
              </a:spcBef>
              <a:defRPr/>
            </a:pPr>
            <a:r>
              <a:rPr lang="en-US" sz="2200" dirty="0">
                <a:solidFill>
                  <a:schemeClr val="tx1">
                    <a:tint val="75000"/>
                  </a:schemeClr>
                </a:solidFill>
                <a:latin typeface="Times New Roman" panose="02020603050405020304" pitchFamily="18" charset="0"/>
                <a:cs typeface="Times New Roman" panose="02020603050405020304" pitchFamily="18" charset="0"/>
              </a:rPr>
              <a:t>COMSATS University Islamabad, Abbottabad Campus</a:t>
            </a:r>
          </a:p>
        </p:txBody>
      </p:sp>
      <p:sp>
        <p:nvSpPr>
          <p:cNvPr id="7" name="TextBox 1"/>
          <p:cNvSpPr txBox="1">
            <a:spLocks noChangeArrowheads="1"/>
          </p:cNvSpPr>
          <p:nvPr/>
        </p:nvSpPr>
        <p:spPr bwMode="auto">
          <a:xfrm>
            <a:off x="1917773" y="490865"/>
            <a:ext cx="8610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GB" sz="2800" dirty="0">
                <a:latin typeface="Times New Roman" panose="02020603050405020304" pitchFamily="18" charset="0"/>
                <a:cs typeface="Times New Roman" panose="02020603050405020304" pitchFamily="18" charset="0"/>
              </a:rPr>
              <a:t>Proposal and Feasibility Presentation</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2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9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2" name="Title 1"/>
          <p:cNvSpPr>
            <a:spLocks noGrp="1"/>
          </p:cNvSpPr>
          <p:nvPr>
            <p:ph type="title"/>
          </p:nvPr>
        </p:nvSpPr>
        <p:spPr>
          <a:xfrm>
            <a:off x="2360676" y="548640"/>
            <a:ext cx="7626096" cy="1179576"/>
          </a:xfrm>
        </p:spPr>
        <p:txBody>
          <a:bodyPr>
            <a:normAutofit/>
          </a:bodyPr>
          <a:lstStyle/>
          <a:p>
            <a:pPr lvl="0" algn="l">
              <a:buNone/>
            </a:pPr>
            <a:r>
              <a:rPr lang="en-US" sz="3500" dirty="0">
                <a:latin typeface="Times New Roman" panose="02020603050405020304" pitchFamily="18" charset="0"/>
                <a:cs typeface="Times New Roman" panose="02020603050405020304" pitchFamily="18" charset="0"/>
              </a:rPr>
              <a:t>Agenda of the Presentation</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8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2360676" y="2481943"/>
            <a:ext cx="7626096" cy="3695020"/>
          </a:xfrm>
        </p:spPr>
        <p:txBody>
          <a:bodyPr>
            <a:normAutofit/>
          </a:bodyPr>
          <a:lstStyle/>
          <a:p>
            <a:r>
              <a:rPr lang="en-US" sz="1600" dirty="0">
                <a:latin typeface="Times New Roman" panose="02020603050405020304" pitchFamily="18" charset="0"/>
                <a:cs typeface="Times New Roman" panose="02020603050405020304" pitchFamily="18" charset="0"/>
              </a:rPr>
              <a:t>Motivation</a:t>
            </a:r>
          </a:p>
          <a:p>
            <a:r>
              <a:rPr lang="en-US" sz="1600" dirty="0">
                <a:latin typeface="Times New Roman" panose="02020603050405020304" pitchFamily="18" charset="0"/>
                <a:cs typeface="Times New Roman" panose="02020603050405020304" pitchFamily="18" charset="0"/>
              </a:rPr>
              <a:t>Brief Introduction</a:t>
            </a:r>
          </a:p>
          <a:p>
            <a:r>
              <a:rPr lang="en-US" sz="1600" dirty="0">
                <a:latin typeface="Times New Roman" panose="02020603050405020304" pitchFamily="18" charset="0"/>
                <a:cs typeface="Times New Roman" panose="02020603050405020304" pitchFamily="18" charset="0"/>
              </a:rPr>
              <a:t>Scope</a:t>
            </a:r>
          </a:p>
          <a:p>
            <a:r>
              <a:rPr lang="en-US" sz="1600" dirty="0">
                <a:latin typeface="Times New Roman" panose="02020603050405020304" pitchFamily="18" charset="0"/>
                <a:cs typeface="Times New Roman" panose="02020603050405020304" pitchFamily="18" charset="0"/>
              </a:rPr>
              <a:t>Functionalities</a:t>
            </a:r>
          </a:p>
          <a:p>
            <a:r>
              <a:rPr lang="en-US" sz="1600" dirty="0">
                <a:latin typeface="Times New Roman" panose="02020603050405020304" pitchFamily="18" charset="0"/>
                <a:cs typeface="Times New Roman" panose="02020603050405020304" pitchFamily="18" charset="0"/>
              </a:rPr>
              <a:t>Proposed Tools / Platform</a:t>
            </a:r>
          </a:p>
          <a:p>
            <a:r>
              <a:rPr lang="en-US" sz="1600" dirty="0">
                <a:latin typeface="Times New Roman" panose="02020603050405020304" pitchFamily="18" charset="0"/>
                <a:cs typeface="Times New Roman" panose="02020603050405020304" pitchFamily="18" charset="0"/>
              </a:rPr>
              <a:t>Technical Feasibility</a:t>
            </a:r>
          </a:p>
          <a:p>
            <a:r>
              <a:rPr lang="en-US" sz="1600" dirty="0">
                <a:latin typeface="Times New Roman" panose="02020603050405020304" pitchFamily="18" charset="0"/>
                <a:cs typeface="Times New Roman" panose="02020603050405020304" pitchFamily="18" charset="0"/>
              </a:rPr>
              <a:t>Financial Feasibility</a:t>
            </a:r>
          </a:p>
          <a:p>
            <a:r>
              <a:rPr lang="en-US" sz="1600" dirty="0">
                <a:latin typeface="Times New Roman" panose="02020603050405020304" pitchFamily="18" charset="0"/>
                <a:cs typeface="Times New Roman" panose="02020603050405020304" pitchFamily="18" charset="0"/>
              </a:rPr>
              <a:t>Resource Feasibility</a:t>
            </a:r>
          </a:p>
          <a:p>
            <a:r>
              <a:rPr lang="en-US" sz="1600" dirty="0">
                <a:latin typeface="Times New Roman" panose="02020603050405020304" pitchFamily="18" charset="0"/>
                <a:cs typeface="Times New Roman" panose="02020603050405020304" pitchFamily="18" charset="0"/>
              </a:rPr>
              <a:t>Operational Feasibility</a:t>
            </a:r>
          </a:p>
          <a:p>
            <a:r>
              <a:rPr lang="en-US" sz="1600" dirty="0">
                <a:latin typeface="Times New Roman" panose="02020603050405020304" pitchFamily="18" charset="0"/>
                <a:cs typeface="Times New Roman" panose="02020603050405020304" pitchFamily="18" charset="0"/>
              </a:rPr>
              <a:t>Schedule / Gantt Chart</a:t>
            </a:r>
          </a:p>
          <a:p>
            <a:r>
              <a:rPr lang="en-US" sz="1600" dirty="0">
                <a:latin typeface="Times New Roman" panose="02020603050405020304" pitchFamily="18" charset="0"/>
                <a:cs typeface="Times New Roman" panose="02020603050405020304" pitchFamily="18" charset="0"/>
              </a:rPr>
              <a:t>Tasks for 1st Iteration (30%)</a:t>
            </a:r>
          </a:p>
          <a:p>
            <a:r>
              <a:rPr lang="en-US" sz="1600" dirty="0">
                <a:latin typeface="Times New Roman" panose="02020603050405020304" pitchFamily="18" charset="0"/>
                <a:cs typeface="Times New Roman" panose="02020603050405020304" pitchFamily="18" charset="0"/>
              </a:rPr>
              <a:t>Conclusion</a:t>
            </a:r>
          </a:p>
        </p:txBody>
      </p:sp>
      <p:sp>
        <p:nvSpPr>
          <p:cNvPr id="4" name="Slide Number Placeholder 3"/>
          <p:cNvSpPr>
            <a:spLocks noGrp="1"/>
          </p:cNvSpPr>
          <p:nvPr>
            <p:ph type="sldNum" sz="quarter" idx="12"/>
          </p:nvPr>
        </p:nvSpPr>
        <p:spPr>
          <a:xfrm>
            <a:off x="7929372" y="6356351"/>
            <a:ext cx="2057400" cy="365125"/>
          </a:xfrm>
        </p:spPr>
        <p:txBody>
          <a:bodyPr>
            <a:normAutofit/>
          </a:bodyPr>
          <a:lstStyle/>
          <a:p>
            <a:pPr>
              <a:spcAft>
                <a:spcPts val="600"/>
              </a:spcAft>
            </a:pPr>
            <a:fld id="{DC2A8C5E-5ACC-4DAB-B41C-5718F8C58B6D}" type="slidenum">
              <a:rPr lang="en-US">
                <a:solidFill>
                  <a:schemeClr val="tx1">
                    <a:lumMod val="50000"/>
                    <a:lumOff val="50000"/>
                  </a:schemeClr>
                </a:solidFill>
                <a:latin typeface="Times New Roman" panose="02020603050405020304" pitchFamily="18" charset="0"/>
                <a:cs typeface="Times New Roman" panose="02020603050405020304" pitchFamily="18" charset="0"/>
              </a:rPr>
              <a:pPr>
                <a:spcAft>
                  <a:spcPts val="600"/>
                </a:spcAft>
              </a:pPr>
              <a:t>2</a:t>
            </a:fld>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2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9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2" name="Title 1"/>
          <p:cNvSpPr>
            <a:spLocks noGrp="1"/>
          </p:cNvSpPr>
          <p:nvPr>
            <p:ph type="title"/>
          </p:nvPr>
        </p:nvSpPr>
        <p:spPr>
          <a:xfrm>
            <a:off x="2360676" y="548640"/>
            <a:ext cx="7626096" cy="1179576"/>
          </a:xfrm>
        </p:spPr>
        <p:txBody>
          <a:bodyPr>
            <a:normAutofit/>
          </a:bodyPr>
          <a:lstStyle/>
          <a:p>
            <a:pPr lvl="0" algn="l">
              <a:buNone/>
            </a:pPr>
            <a:r>
              <a:rPr lang="en-US" sz="3500" dirty="0">
                <a:latin typeface="Times New Roman" panose="02020603050405020304" pitchFamily="18" charset="0"/>
                <a:cs typeface="Times New Roman" panose="02020603050405020304" pitchFamily="18" charset="0"/>
              </a:rPr>
              <a:t>Motivation</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8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2282952" y="2521263"/>
            <a:ext cx="7626096" cy="3695020"/>
          </a:xfrm>
        </p:spPr>
        <p:txBody>
          <a:bodyPr>
            <a:normAutofit/>
          </a:bodyPr>
          <a:lstStyle/>
          <a:p>
            <a:pPr marL="0" indent="0" algn="just">
              <a:buNone/>
            </a:pPr>
            <a:r>
              <a:rPr lang="en-US" sz="1600" b="1" dirty="0">
                <a:latin typeface="Times New Roman" panose="02020603050405020304" pitchFamily="18" charset="0"/>
                <a:cs typeface="Times New Roman" panose="02020603050405020304" pitchFamily="18" charset="0"/>
              </a:rPr>
              <a:t>Real estate </a:t>
            </a:r>
            <a:r>
              <a:rPr lang="en-US" sz="1600" dirty="0">
                <a:latin typeface="Times New Roman" panose="02020603050405020304" pitchFamily="18" charset="0"/>
                <a:cs typeface="Times New Roman" panose="02020603050405020304" pitchFamily="18" charset="0"/>
              </a:rPr>
              <a:t>pricing in Pakistan remains highly opaque, causing buyers to overpay and sellers to underprice due to the lack of reliable data-driven insights. While platforms like Zameen.com list properties, they provide no AI-powered price validation or market trend analysis. This leaves buyers struggling with fair pricing, neighborhood assessment, and mortgage planning, while sellers lack guidance on optimal pricing strategies, listing timing, and value-adding improvements. Our solution empowers middle-income families with data-backed decisions, reduces fraud and mispricing in Pakistan’s trillion-rupee real estate market, and creates a centralized smart platform for buyers, sellers, and agents—ultimately supporting the country’s digitalization agenda through AI-driven property transactions.</a:t>
            </a:r>
          </a:p>
          <a:p>
            <a:pPr marL="0" indent="0" algn="just">
              <a:buNone/>
            </a:pPr>
            <a:endParaRPr 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7929372" y="6356351"/>
            <a:ext cx="2057400" cy="365125"/>
          </a:xfrm>
        </p:spPr>
        <p:txBody>
          <a:bodyPr>
            <a:normAutofit/>
          </a:bodyPr>
          <a:lstStyle/>
          <a:p>
            <a:pPr>
              <a:spcAft>
                <a:spcPts val="600"/>
              </a:spcAft>
            </a:pPr>
            <a:fld id="{DC2A8C5E-5ACC-4DAB-B41C-5718F8C58B6D}" type="slidenum">
              <a:rPr lang="en-US">
                <a:solidFill>
                  <a:schemeClr val="tx1">
                    <a:lumMod val="50000"/>
                    <a:lumOff val="50000"/>
                  </a:schemeClr>
                </a:solidFill>
                <a:latin typeface="Times New Roman" panose="02020603050405020304" pitchFamily="18" charset="0"/>
                <a:cs typeface="Times New Roman" panose="02020603050405020304" pitchFamily="18" charset="0"/>
              </a:rPr>
              <a:pPr>
                <a:spcAft>
                  <a:spcPts val="600"/>
                </a:spcAft>
              </a:pPr>
              <a:t>3</a:t>
            </a:fld>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2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9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2" name="Title 1"/>
          <p:cNvSpPr>
            <a:spLocks noGrp="1"/>
          </p:cNvSpPr>
          <p:nvPr>
            <p:ph type="title"/>
          </p:nvPr>
        </p:nvSpPr>
        <p:spPr>
          <a:xfrm>
            <a:off x="2360676" y="548640"/>
            <a:ext cx="7626096" cy="1179576"/>
          </a:xfrm>
        </p:spPr>
        <p:txBody>
          <a:bodyPr>
            <a:normAutofit/>
          </a:bodyPr>
          <a:lstStyle/>
          <a:p>
            <a:pPr lvl="0" algn="l">
              <a:buNone/>
            </a:pPr>
            <a:r>
              <a:rPr lang="en-US" sz="3500" dirty="0">
                <a:latin typeface="Times New Roman" panose="02020603050405020304" pitchFamily="18" charset="0"/>
                <a:cs typeface="Times New Roman" panose="02020603050405020304" pitchFamily="18" charset="0"/>
              </a:rPr>
              <a:t>Brief Introduction</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8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2360676" y="2481943"/>
            <a:ext cx="7626096" cy="3695020"/>
          </a:xfrm>
        </p:spPr>
        <p:txBody>
          <a:bodyPr>
            <a:normAutofit/>
          </a:bodyPr>
          <a:lstStyle/>
          <a:p>
            <a:pPr marL="0" indent="0" algn="just">
              <a:buNone/>
            </a:pPr>
            <a:r>
              <a:rPr lang="en-US" sz="1600" dirty="0">
                <a:latin typeface="Times New Roman" panose="02020603050405020304" pitchFamily="18" charset="0"/>
                <a:cs typeface="Times New Roman" panose="02020603050405020304" pitchFamily="18" charset="0"/>
              </a:rPr>
              <a:t>This AI-powered real estate platform for Pakistan combines a full property marketplace with machine learning price prediction. It helps users buy, sell, or rent properties by providing fair market value estimates based on location, area, property type, and historical data. The platform includes an interactive marketplace with map integration, personalized property recommendations for buyers, and pricing and timing advice for sellers. A mortgage calculator connects to bank interest rate APIs to show monthly installments, while a 24/7 AI chatbot guides users on search, pricing, mortgages, and transactions. Market heatmaps visualize price trends, demand-supply dynamics, and livability scores. Designed for web (React.js) and mobile (Flutter for iOS and Android), the platform is inspired by </a:t>
            </a:r>
            <a:r>
              <a:rPr lang="en-US" sz="1600" dirty="0">
                <a:latin typeface="Times New Roman" panose="02020603050405020304" pitchFamily="18" charset="0"/>
                <a:cs typeface="Times New Roman" panose="02020603050405020304" pitchFamily="18" charset="0"/>
                <a:hlinkClick r:id="rId2"/>
              </a:rPr>
              <a:t>Zameen.com</a:t>
            </a:r>
            <a:r>
              <a:rPr lang="en-US" sz="1600" dirty="0">
                <a:latin typeface="Times New Roman" panose="02020603050405020304" pitchFamily="18" charset="0"/>
                <a:cs typeface="Times New Roman" panose="02020603050405020304" pitchFamily="18" charset="0"/>
              </a:rPr>
              <a:t> but enhanced with real-time analytics and bilingual support in English and Urdu. It aims to make property transactions smarter, faster, and more transparent across Pakistan.</a:t>
            </a:r>
          </a:p>
        </p:txBody>
      </p:sp>
      <p:sp>
        <p:nvSpPr>
          <p:cNvPr id="4" name="Slide Number Placeholder 3"/>
          <p:cNvSpPr>
            <a:spLocks noGrp="1"/>
          </p:cNvSpPr>
          <p:nvPr>
            <p:ph type="sldNum" sz="quarter" idx="12"/>
          </p:nvPr>
        </p:nvSpPr>
        <p:spPr>
          <a:xfrm>
            <a:off x="7929372" y="6356351"/>
            <a:ext cx="2057400" cy="365125"/>
          </a:xfrm>
        </p:spPr>
        <p:txBody>
          <a:bodyPr>
            <a:normAutofit/>
          </a:bodyPr>
          <a:lstStyle/>
          <a:p>
            <a:pPr>
              <a:spcAft>
                <a:spcPts val="600"/>
              </a:spcAft>
            </a:pPr>
            <a:fld id="{DC2A8C5E-5ACC-4DAB-B41C-5718F8C58B6D}" type="slidenum">
              <a:rPr lang="en-US">
                <a:solidFill>
                  <a:schemeClr val="tx1">
                    <a:lumMod val="50000"/>
                    <a:lumOff val="50000"/>
                  </a:schemeClr>
                </a:solidFill>
                <a:latin typeface="Times New Roman" panose="02020603050405020304" pitchFamily="18" charset="0"/>
                <a:cs typeface="Times New Roman" panose="02020603050405020304" pitchFamily="18" charset="0"/>
              </a:rPr>
              <a:pPr>
                <a:spcAft>
                  <a:spcPts val="600"/>
                </a:spcAft>
              </a:pPr>
              <a:t>4</a:t>
            </a:fld>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2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9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2" name="Title 1"/>
          <p:cNvSpPr>
            <a:spLocks noGrp="1"/>
          </p:cNvSpPr>
          <p:nvPr>
            <p:ph type="title"/>
          </p:nvPr>
        </p:nvSpPr>
        <p:spPr>
          <a:xfrm>
            <a:off x="2360676" y="548640"/>
            <a:ext cx="7626096" cy="1280160"/>
          </a:xfrm>
        </p:spPr>
        <p:txBody>
          <a:bodyPr>
            <a:normAutofit/>
          </a:bodyPr>
          <a:lstStyle/>
          <a:p>
            <a:pPr lvl="0" algn="l">
              <a:buNone/>
            </a:pPr>
            <a:r>
              <a:rPr lang="en-US" sz="3500" dirty="0">
                <a:latin typeface="Times New Roman" panose="02020603050405020304" pitchFamily="18" charset="0"/>
                <a:cs typeface="Times New Roman" panose="02020603050405020304" pitchFamily="18" charset="0"/>
              </a:rPr>
              <a:t>Scope</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8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2360676" y="2481942"/>
            <a:ext cx="7626096" cy="3874409"/>
          </a:xfrm>
        </p:spPr>
        <p:txBody>
          <a:bodyPr>
            <a:normAutofit/>
          </a:bodyPr>
          <a:lstStyle/>
          <a:p>
            <a:pPr algn="just"/>
            <a:r>
              <a:rPr lang="en-US" sz="1200" dirty="0">
                <a:latin typeface="Times New Roman" panose="02020603050405020304" pitchFamily="18" charset="0"/>
                <a:cs typeface="Times New Roman" panose="02020603050405020304" pitchFamily="18" charset="0"/>
              </a:rPr>
              <a:t>Web Application (React.js / Next.js) and Mobile Application (Flutter — iOS &amp; Android) </a:t>
            </a:r>
          </a:p>
          <a:p>
            <a:pPr algn="just"/>
            <a:r>
              <a:rPr lang="en-US" sz="1200" dirty="0">
                <a:latin typeface="Times New Roman" panose="02020603050405020304" pitchFamily="18" charset="0"/>
                <a:cs typeface="Times New Roman" panose="02020603050405020304" pitchFamily="18" charset="0"/>
              </a:rPr>
              <a:t>Users receive a predicted fair market value for any property with a confidence score and an overpriced/underpriced verdict based on location, area, type, bedrooms, and historical data.</a:t>
            </a:r>
          </a:p>
          <a:p>
            <a:pPr algn="just"/>
            <a:r>
              <a:rPr lang="en-US" sz="1200" dirty="0">
                <a:latin typeface="Times New Roman" panose="02020603050405020304" pitchFamily="18" charset="0"/>
                <a:cs typeface="Times New Roman" panose="02020603050405020304" pitchFamily="18" charset="0"/>
              </a:rPr>
              <a:t>Users can search and filter properties by city, price range, area, bedrooms, and property type with an interactive Google Maps view and nearby amenities.</a:t>
            </a:r>
          </a:p>
          <a:p>
            <a:pPr algn="just"/>
            <a:r>
              <a:rPr lang="en-US" sz="1200" dirty="0">
                <a:latin typeface="Times New Roman" panose="02020603050405020304" pitchFamily="18" charset="0"/>
                <a:cs typeface="Times New Roman" panose="02020603050405020304" pitchFamily="18" charset="0"/>
              </a:rPr>
              <a:t>Sellers and agents can add, edit, and delete property listings with photo/video uploads, location pinning, and performance analytics.</a:t>
            </a:r>
          </a:p>
          <a:p>
            <a:pPr algn="just"/>
            <a:r>
              <a:rPr lang="en-US" sz="1200" dirty="0">
                <a:latin typeface="Times New Roman" panose="02020603050405020304" pitchFamily="18" charset="0"/>
                <a:cs typeface="Times New Roman" panose="02020603050405020304" pitchFamily="18" charset="0"/>
              </a:rPr>
              <a:t>Buyers receive property suggestions based on preferences and history. Sellers receive optimal listing price, best time to sell, and improvement suggestions. </a:t>
            </a:r>
          </a:p>
          <a:p>
            <a:pPr algn="just"/>
            <a:r>
              <a:rPr lang="en-US" sz="1200" dirty="0">
                <a:latin typeface="Times New Roman" panose="02020603050405020304" pitchFamily="18" charset="0"/>
                <a:cs typeface="Times New Roman" panose="02020603050405020304" pitchFamily="18" charset="0"/>
              </a:rPr>
              <a:t>Users can save favorites, submit inquiries, schedule site visits or virtual tours, and chat with sellers or agents directly. Users can estimate monthly installments and loan eligibility using live bank interest rate APIs.</a:t>
            </a:r>
          </a:p>
          <a:p>
            <a:pPr algn="just"/>
            <a:r>
              <a:rPr lang="en-US" sz="1200" dirty="0">
                <a:latin typeface="Times New Roman" panose="02020603050405020304" pitchFamily="18" charset="0"/>
                <a:cs typeface="Times New Roman" panose="02020603050405020304" pitchFamily="18" charset="0"/>
              </a:rPr>
              <a:t>The system displays area-level price trends, demand vs. supply charts, and livability scores by locality.</a:t>
            </a:r>
          </a:p>
          <a:p>
            <a:pPr algn="just"/>
            <a:r>
              <a:rPr lang="en-US" sz="1200" dirty="0"/>
              <a:t>A 24/7 chatbot guides users through property search, price estimation, mortgage queries, and the buying/selling process.</a:t>
            </a:r>
          </a:p>
          <a:p>
            <a:pPr marL="0" indent="0">
              <a:buNone/>
            </a:pPr>
            <a:endParaRPr lang="en-US"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7929372" y="6356351"/>
            <a:ext cx="2057400" cy="365125"/>
          </a:xfrm>
        </p:spPr>
        <p:txBody>
          <a:bodyPr>
            <a:normAutofit/>
          </a:bodyPr>
          <a:lstStyle/>
          <a:p>
            <a:pPr>
              <a:spcAft>
                <a:spcPts val="600"/>
              </a:spcAft>
            </a:pPr>
            <a:fld id="{DC2A8C5E-5ACC-4DAB-B41C-5718F8C58B6D}" type="slidenum">
              <a:rPr lang="en-US" smtClean="0">
                <a:solidFill>
                  <a:schemeClr val="tx1">
                    <a:lumMod val="50000"/>
                    <a:lumOff val="50000"/>
                  </a:schemeClr>
                </a:solidFill>
                <a:latin typeface="Times New Roman" panose="02020603050405020304" pitchFamily="18" charset="0"/>
                <a:cs typeface="Times New Roman" panose="02020603050405020304" pitchFamily="18" charset="0"/>
              </a:rPr>
              <a:pPr>
                <a:spcAft>
                  <a:spcPts val="600"/>
                </a:spcAft>
              </a:pPr>
              <a:t>5</a:t>
            </a:fld>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335051A-8111-2804-48A5-388FA041C36F}"/>
              </a:ext>
            </a:extLst>
          </p:cNvPr>
          <p:cNvSpPr>
            <a:spLocks noGrp="1"/>
          </p:cNvSpPr>
          <p:nvPr>
            <p:ph type="title"/>
          </p:nvPr>
        </p:nvSpPr>
        <p:spPr>
          <a:xfrm>
            <a:off x="1115568" y="548640"/>
            <a:ext cx="10168128" cy="1127760"/>
          </a:xfrm>
        </p:spPr>
        <p:txBody>
          <a:bodyPr>
            <a:normAutofit/>
          </a:bodyPr>
          <a:lstStyle/>
          <a:p>
            <a:pPr algn="l"/>
            <a:r>
              <a:rPr lang="en-US" sz="3500" dirty="0">
                <a:latin typeface="Times New Roman" panose="02020603050405020304" pitchFamily="18" charset="0"/>
                <a:cs typeface="Times New Roman" panose="02020603050405020304" pitchFamily="18" charset="0"/>
              </a:rPr>
              <a:t>Scope</a:t>
            </a:r>
            <a:r>
              <a:rPr lang="en-US" sz="3500" b="1" dirty="0">
                <a:latin typeface="Times New Roman" panose="02020603050405020304" pitchFamily="18" charset="0"/>
                <a:cs typeface="Times New Roman" panose="02020603050405020304" pitchFamily="18" charset="0"/>
              </a:rPr>
              <a:t>  </a:t>
            </a:r>
            <a:r>
              <a:rPr lang="en-US" sz="3500" b="1" dirty="0" err="1">
                <a:latin typeface="Times New Roman" panose="02020603050405020304" pitchFamily="18" charset="0"/>
                <a:cs typeface="Times New Roman" panose="02020603050405020304" pitchFamily="18" charset="0"/>
              </a:rPr>
              <a:t>Cont</a:t>
            </a:r>
            <a:r>
              <a:rPr lang="en-US" sz="3500" b="1" dirty="0">
                <a:latin typeface="Times New Roman" panose="02020603050405020304" pitchFamily="18" charset="0"/>
                <a:cs typeface="Times New Roman" panose="02020603050405020304" pitchFamily="18" charset="0"/>
              </a:rPr>
              <a:t>…</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012B114-7D45-2E63-1196-23496455E9D8}"/>
              </a:ext>
            </a:extLst>
          </p:cNvPr>
          <p:cNvSpPr>
            <a:spLocks noGrp="1"/>
          </p:cNvSpPr>
          <p:nvPr>
            <p:ph idx="1"/>
          </p:nvPr>
        </p:nvSpPr>
        <p:spPr>
          <a:xfrm>
            <a:off x="1115568" y="2481943"/>
            <a:ext cx="10168128" cy="3695020"/>
          </a:xfrm>
        </p:spPr>
        <p:txBody>
          <a:bodyPr>
            <a:normAutofit/>
          </a:bodyPr>
          <a:lstStyle/>
          <a:p>
            <a:pPr algn="just"/>
            <a:r>
              <a:rPr lang="en-US" sz="1200" dirty="0">
                <a:latin typeface="Times New Roman" panose="02020603050405020304" pitchFamily="18" charset="0"/>
                <a:cs typeface="Times New Roman" panose="02020603050405020304" pitchFamily="18" charset="0"/>
              </a:rPr>
              <a:t>Users receive price drop alerts, new listing alerts, mortgage rate changes, and appointment reminders.</a:t>
            </a:r>
          </a:p>
          <a:p>
            <a:pPr algn="just"/>
            <a:r>
              <a:rPr lang="en-US" sz="1200" dirty="0">
                <a:latin typeface="Times New Roman" panose="02020603050405020304" pitchFamily="18" charset="0"/>
                <a:cs typeface="Times New Roman" panose="02020603050405020304" pitchFamily="18" charset="0"/>
              </a:rPr>
              <a:t>Role-based logins for Buyer, Seller, Agent, and Admin with email/phone verification and profile badges.</a:t>
            </a:r>
          </a:p>
          <a:p>
            <a:pPr algn="just"/>
            <a:r>
              <a:rPr lang="en-US" sz="1200" dirty="0">
                <a:latin typeface="Times New Roman" panose="02020603050405020304" pitchFamily="18" charset="0"/>
                <a:cs typeface="Times New Roman" panose="02020603050405020304" pitchFamily="18" charset="0"/>
              </a:rPr>
              <a:t>Admins can approve or reject listings, manage users, block spam, and monitor platform-wide statistics.</a:t>
            </a:r>
          </a:p>
          <a:p>
            <a:pPr algn="just"/>
            <a:r>
              <a:rPr lang="en-US" sz="1200">
                <a:latin typeface="Times New Roman" panose="02020603050405020304" pitchFamily="18" charset="0"/>
                <a:cs typeface="Times New Roman" panose="02020603050405020304" pitchFamily="18" charset="0"/>
              </a:rPr>
              <a:t>Multilingual </a:t>
            </a:r>
            <a:r>
              <a:rPr lang="en-US" sz="1200" dirty="0">
                <a:latin typeface="Times New Roman" panose="02020603050405020304" pitchFamily="18" charset="0"/>
                <a:cs typeface="Times New Roman" panose="02020603050405020304" pitchFamily="18" charset="0"/>
              </a:rPr>
              <a:t>support — English and Urdu for wider accessibility across Pakistan.</a:t>
            </a:r>
          </a:p>
        </p:txBody>
      </p:sp>
      <p:sp>
        <p:nvSpPr>
          <p:cNvPr id="4" name="Slide Number Placeholder 3">
            <a:extLst>
              <a:ext uri="{FF2B5EF4-FFF2-40B4-BE49-F238E27FC236}">
                <a16:creationId xmlns:a16="http://schemas.microsoft.com/office/drawing/2014/main" id="{C043AB9B-1312-A850-A829-7DC06A1591F8}"/>
              </a:ext>
            </a:extLst>
          </p:cNvPr>
          <p:cNvSpPr>
            <a:spLocks noGrp="1"/>
          </p:cNvSpPr>
          <p:nvPr>
            <p:ph type="sldNum" sz="quarter" idx="12"/>
          </p:nvPr>
        </p:nvSpPr>
        <p:spPr>
          <a:xfrm>
            <a:off x="8540496" y="6356350"/>
            <a:ext cx="2743200" cy="365125"/>
          </a:xfrm>
        </p:spPr>
        <p:txBody>
          <a:bodyPr>
            <a:normAutofit/>
          </a:bodyPr>
          <a:lstStyle/>
          <a:p>
            <a:pPr>
              <a:spcAft>
                <a:spcPts val="600"/>
              </a:spcAft>
            </a:pPr>
            <a:fld id="{DC2A8C5E-5ACC-4DAB-B41C-5718F8C58B6D}" type="slidenum">
              <a:rPr lang="en-US">
                <a:solidFill>
                  <a:schemeClr val="tx1">
                    <a:lumMod val="50000"/>
                    <a:lumOff val="50000"/>
                  </a:schemeClr>
                </a:solidFill>
              </a:rPr>
              <a:pPr>
                <a:spcAft>
                  <a:spcPts val="600"/>
                </a:spcAft>
              </a:pPr>
              <a:t>6</a:t>
            </a:fld>
            <a:endParaRPr lang="en-US">
              <a:solidFill>
                <a:schemeClr val="tx1">
                  <a:lumMod val="50000"/>
                  <a:lumOff val="50000"/>
                </a:schemeClr>
              </a:solidFill>
            </a:endParaRPr>
          </a:p>
        </p:txBody>
      </p:sp>
    </p:spTree>
    <p:extLst>
      <p:ext uri="{BB962C8B-B14F-4D97-AF65-F5344CB8AC3E}">
        <p14:creationId xmlns:p14="http://schemas.microsoft.com/office/powerpoint/2010/main" val="527118226"/>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2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9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2" name="Title 1"/>
          <p:cNvSpPr>
            <a:spLocks noGrp="1"/>
          </p:cNvSpPr>
          <p:nvPr>
            <p:ph type="title"/>
          </p:nvPr>
        </p:nvSpPr>
        <p:spPr>
          <a:xfrm>
            <a:off x="2360676" y="548640"/>
            <a:ext cx="7626096" cy="914400"/>
          </a:xfrm>
        </p:spPr>
        <p:txBody>
          <a:bodyPr>
            <a:normAutofit/>
          </a:bodyPr>
          <a:lstStyle/>
          <a:p>
            <a:pPr lvl="0" algn="l">
              <a:buNone/>
            </a:pPr>
            <a:r>
              <a:rPr lang="en-US" sz="3500" dirty="0">
                <a:latin typeface="Times New Roman" panose="02020603050405020304" pitchFamily="18" charset="0"/>
                <a:cs typeface="Times New Roman" panose="02020603050405020304" pitchFamily="18" charset="0"/>
              </a:rPr>
              <a:t>Functionalities</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8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2360676" y="2209800"/>
            <a:ext cx="7626096" cy="4343400"/>
          </a:xfrm>
        </p:spPr>
        <p:txBody>
          <a:bodyPr>
            <a:normAutofit fontScale="85000" lnSpcReduction="20000"/>
          </a:bodyPr>
          <a:lstStyle/>
          <a:p>
            <a:pPr marL="0" indent="0">
              <a:buNone/>
            </a:pPr>
            <a:r>
              <a:rPr lang="en-US" sz="1600" b="1" dirty="0">
                <a:latin typeface="Times New Roman" panose="02020603050405020304" pitchFamily="18" charset="0"/>
                <a:cs typeface="Times New Roman" panose="02020603050405020304" pitchFamily="18" charset="0"/>
              </a:rPr>
              <a:t>. Property Search &amp; Discovery</a:t>
            </a:r>
          </a:p>
          <a:p>
            <a:pPr marL="0" indent="0">
              <a:buNone/>
            </a:pPr>
            <a:r>
              <a:rPr lang="en-US" sz="1600" dirty="0">
                <a:latin typeface="Times New Roman" panose="02020603050405020304" pitchFamily="18" charset="0"/>
                <a:cs typeface="Times New Roman" panose="02020603050405020304" pitchFamily="18" charset="0"/>
              </a:rPr>
              <a:t>   Filter by location, price, area, type, bedrooms; map view; nearby amenities</a:t>
            </a:r>
          </a:p>
          <a:p>
            <a:pPr marL="0" indent="0">
              <a:buNone/>
            </a:pPr>
            <a:r>
              <a:rPr lang="en-US" sz="1600" b="1" dirty="0">
                <a:latin typeface="Times New Roman" panose="02020603050405020304" pitchFamily="18" charset="0"/>
                <a:cs typeface="Times New Roman" panose="02020603050405020304" pitchFamily="18" charset="0"/>
              </a:rPr>
              <a:t>. AI-Based Price Prediction</a:t>
            </a:r>
          </a:p>
          <a:p>
            <a:pPr marL="0" indent="0">
              <a:buNone/>
            </a:pPr>
            <a:r>
              <a:rPr lang="en-US" sz="1600" dirty="0">
                <a:latin typeface="Times New Roman" panose="02020603050405020304" pitchFamily="18" charset="0"/>
                <a:cs typeface="Times New Roman" panose="02020603050405020304" pitchFamily="18" charset="0"/>
              </a:rPr>
              <a:t>   ML model with confidence score; over/underpriced detection; price history</a:t>
            </a:r>
          </a:p>
          <a:p>
            <a:pPr marL="0" indent="0">
              <a:buNone/>
            </a:pPr>
            <a:r>
              <a:rPr lang="en-US" sz="1600" b="1" dirty="0">
                <a:latin typeface="Times New Roman" panose="02020603050405020304" pitchFamily="18" charset="0"/>
                <a:cs typeface="Times New Roman" panose="02020603050405020304" pitchFamily="18" charset="0"/>
              </a:rPr>
              <a:t>. AI Recommendations</a:t>
            </a:r>
          </a:p>
          <a:p>
            <a:pPr marL="0" indent="0">
              <a:buNone/>
            </a:pPr>
            <a:r>
              <a:rPr lang="en-US" sz="1600" dirty="0">
                <a:latin typeface="Times New Roman" panose="02020603050405020304" pitchFamily="18" charset="0"/>
                <a:cs typeface="Times New Roman" panose="02020603050405020304" pitchFamily="18" charset="0"/>
              </a:rPr>
              <a:t>   Buyer: personalized suggestions | Seller: optimal price, timing, improvement tips</a:t>
            </a:r>
          </a:p>
          <a:p>
            <a:pPr marL="0" indent="0">
              <a:buNone/>
            </a:pPr>
            <a:r>
              <a:rPr lang="en-US" sz="1600" b="1" dirty="0">
                <a:latin typeface="Times New Roman" panose="02020603050405020304" pitchFamily="18" charset="0"/>
                <a:cs typeface="Times New Roman" panose="02020603050405020304" pitchFamily="18" charset="0"/>
              </a:rPr>
              <a:t>. Listing Management</a:t>
            </a:r>
          </a:p>
          <a:p>
            <a:pPr marL="0" indent="0">
              <a:buNone/>
            </a:pPr>
            <a:r>
              <a:rPr lang="en-US" sz="1600" dirty="0">
                <a:latin typeface="Times New Roman" panose="02020603050405020304" pitchFamily="18" charset="0"/>
                <a:cs typeface="Times New Roman" panose="02020603050405020304" pitchFamily="18" charset="0"/>
              </a:rPr>
              <a:t>   Add/edit/delete listings; upload media; view analytics (views, leads)</a:t>
            </a:r>
          </a:p>
          <a:p>
            <a:pPr marL="0" indent="0">
              <a:buNone/>
            </a:pPr>
            <a:r>
              <a:rPr lang="en-US" sz="1600" b="1" dirty="0">
                <a:latin typeface="Times New Roman" panose="02020603050405020304" pitchFamily="18" charset="0"/>
                <a:cs typeface="Times New Roman" panose="02020603050405020304" pitchFamily="18" charset="0"/>
              </a:rPr>
              <a:t>. Buying &amp; Renting Module</a:t>
            </a:r>
          </a:p>
          <a:p>
            <a:pPr marL="0" indent="0">
              <a:buNone/>
            </a:pPr>
            <a:r>
              <a:rPr lang="en-US" sz="1600" dirty="0">
                <a:latin typeface="Times New Roman" panose="02020603050405020304" pitchFamily="18" charset="0"/>
                <a:cs typeface="Times New Roman" panose="02020603050405020304" pitchFamily="18" charset="0"/>
              </a:rPr>
              <a:t>   Favorites, inquiries, virtual tours, site visits, direct chat</a:t>
            </a:r>
          </a:p>
          <a:p>
            <a:pPr marL="0" indent="0">
              <a:buNone/>
            </a:pPr>
            <a:r>
              <a:rPr lang="en-US" sz="1600" b="1" dirty="0">
                <a:latin typeface="Times New Roman" panose="02020603050405020304" pitchFamily="18" charset="0"/>
                <a:cs typeface="Times New Roman" panose="02020603050405020304" pitchFamily="18" charset="0"/>
              </a:rPr>
              <a:t>. Dashboard &amp; Analytics</a:t>
            </a:r>
          </a:p>
          <a:p>
            <a:pPr marL="0" indent="0">
              <a:buNone/>
            </a:pPr>
            <a:r>
              <a:rPr lang="en-US" sz="1600" dirty="0">
                <a:latin typeface="Times New Roman" panose="02020603050405020304" pitchFamily="18" charset="0"/>
                <a:cs typeface="Times New Roman" panose="02020603050405020304" pitchFamily="18" charset="0"/>
              </a:rPr>
              <a:t>   Role-based dashboards — leads, price comparisons, trends, statistics</a:t>
            </a:r>
          </a:p>
          <a:p>
            <a:pPr marL="0" indent="0">
              <a:buNone/>
            </a:pPr>
            <a:r>
              <a:rPr lang="en-US" sz="1600" b="1" dirty="0">
                <a:latin typeface="Times New Roman" panose="02020603050405020304" pitchFamily="18" charset="0"/>
                <a:cs typeface="Times New Roman" panose="02020603050405020304" pitchFamily="18" charset="0"/>
              </a:rPr>
              <a:t>. Alerts &amp; Notifications</a:t>
            </a:r>
          </a:p>
          <a:p>
            <a:pPr marL="0" indent="0">
              <a:buNone/>
            </a:pPr>
            <a:r>
              <a:rPr lang="en-US" sz="1600" dirty="0">
                <a:latin typeface="Times New Roman" panose="02020603050405020304" pitchFamily="18" charset="0"/>
                <a:cs typeface="Times New Roman" panose="02020603050405020304" pitchFamily="18" charset="0"/>
              </a:rPr>
              <a:t>   Price drop alerts, new listings, mortgage alerts, appointment reminders</a:t>
            </a:r>
          </a:p>
          <a:p>
            <a:pPr marL="0" indent="0">
              <a:buNone/>
            </a:pPr>
            <a:r>
              <a:rPr lang="en-US" sz="1600" b="1" dirty="0">
                <a:latin typeface="Times New Roman" panose="02020603050405020304" pitchFamily="18" charset="0"/>
                <a:cs typeface="Times New Roman" panose="02020603050405020304" pitchFamily="18" charset="0"/>
              </a:rPr>
              <a:t>. Mortgage &amp; Finance Calculator</a:t>
            </a:r>
          </a:p>
          <a:p>
            <a:pPr marL="0" indent="0">
              <a:buNone/>
            </a:pPr>
            <a:r>
              <a:rPr lang="en-US" sz="1600" dirty="0">
                <a:latin typeface="Times New Roman" panose="02020603050405020304" pitchFamily="18" charset="0"/>
                <a:cs typeface="Times New Roman" panose="02020603050405020304" pitchFamily="18" charset="0"/>
              </a:rPr>
              <a:t>   Monthly installment estimates via bank interest rate APIs</a:t>
            </a:r>
          </a:p>
          <a:p>
            <a:pPr marL="0" indent="0">
              <a:buNone/>
            </a:pPr>
            <a:r>
              <a:rPr lang="en-US" sz="1600" b="1" dirty="0">
                <a:latin typeface="Times New Roman" panose="02020603050405020304" pitchFamily="18" charset="0"/>
                <a:cs typeface="Times New Roman" panose="02020603050405020304" pitchFamily="18" charset="0"/>
              </a:rPr>
              <a:t>. AI Chatbot Assistant</a:t>
            </a:r>
          </a:p>
          <a:p>
            <a:pPr marL="0" indent="0">
              <a:buNone/>
            </a:pPr>
            <a:r>
              <a:rPr lang="en-US" sz="1600" dirty="0">
                <a:latin typeface="Times New Roman" panose="02020603050405020304" pitchFamily="18" charset="0"/>
                <a:cs typeface="Times New Roman" panose="02020603050405020304" pitchFamily="18" charset="0"/>
              </a:rPr>
              <a:t>   24/7 guidance on search, pricing, mortgage, and transactions</a:t>
            </a:r>
          </a:p>
          <a:p>
            <a:pPr marL="0" indent="0">
              <a:buNone/>
            </a:pPr>
            <a:r>
              <a:rPr lang="en-US" sz="1600" b="1" dirty="0">
                <a:latin typeface="Times New Roman" panose="02020603050405020304" pitchFamily="18" charset="0"/>
                <a:cs typeface="Times New Roman" panose="02020603050405020304" pitchFamily="18" charset="0"/>
              </a:rPr>
              <a:t>. Legal &amp; Document Support, Market Heatmaps, Admin Panel</a:t>
            </a:r>
          </a:p>
          <a:p>
            <a:pPr marL="0" indent="0">
              <a:buNone/>
            </a:pPr>
            <a:r>
              <a:rPr lang="en-US" sz="1600" dirty="0">
                <a:latin typeface="Times New Roman" panose="02020603050405020304" pitchFamily="18" charset="0"/>
                <a:cs typeface="Times New Roman" panose="02020603050405020304" pitchFamily="18" charset="0"/>
              </a:rPr>
              <a:t>    Doc upload/verification; heatmaps; listing approvals; admin controls</a:t>
            </a:r>
          </a:p>
          <a:p>
            <a:pPr marL="0" indent="0" algn="just">
              <a:buNone/>
            </a:pPr>
            <a:endParaRPr 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7929372" y="6356351"/>
            <a:ext cx="2057400" cy="365125"/>
          </a:xfrm>
        </p:spPr>
        <p:txBody>
          <a:bodyPr>
            <a:normAutofit/>
          </a:bodyPr>
          <a:lstStyle/>
          <a:p>
            <a:pPr>
              <a:spcAft>
                <a:spcPts val="600"/>
              </a:spcAft>
            </a:pPr>
            <a:fld id="{DC2A8C5E-5ACC-4DAB-B41C-5718F8C58B6D}" type="slidenum">
              <a:rPr lang="en-US">
                <a:solidFill>
                  <a:schemeClr val="tx1">
                    <a:lumMod val="50000"/>
                    <a:lumOff val="50000"/>
                  </a:schemeClr>
                </a:solidFill>
                <a:latin typeface="Times New Roman" panose="02020603050405020304" pitchFamily="18" charset="0"/>
                <a:cs typeface="Times New Roman" panose="02020603050405020304" pitchFamily="18" charset="0"/>
              </a:rPr>
              <a:pPr>
                <a:spcAft>
                  <a:spcPts val="600"/>
                </a:spcAft>
              </a:pPr>
              <a:t>7</a:t>
            </a:fld>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2656" y="7126"/>
            <a:ext cx="8375586"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useBgFill="1">
        <p:nvSpPr>
          <p:cNvPr id="21" name="Rectangle 20">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9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2" name="Title 1"/>
          <p:cNvSpPr>
            <a:spLocks noGrp="1"/>
          </p:cNvSpPr>
          <p:nvPr>
            <p:ph type="title"/>
          </p:nvPr>
        </p:nvSpPr>
        <p:spPr>
          <a:xfrm>
            <a:off x="2360676" y="548640"/>
            <a:ext cx="7626096" cy="1179576"/>
          </a:xfrm>
        </p:spPr>
        <p:txBody>
          <a:bodyPr>
            <a:normAutofit/>
          </a:bodyPr>
          <a:lstStyle/>
          <a:p>
            <a:pPr lvl="0" algn="l">
              <a:buNone/>
            </a:pPr>
            <a:r>
              <a:rPr lang="en-US" sz="3500" dirty="0">
                <a:latin typeface="Times New Roman" panose="02020603050405020304" pitchFamily="18" charset="0"/>
                <a:cs typeface="Times New Roman" panose="02020603050405020304" pitchFamily="18" charset="0"/>
              </a:rPr>
              <a:t>Proposed Tools / Platform</a:t>
            </a:r>
          </a:p>
        </p:txBody>
      </p:sp>
      <p:sp>
        <p:nvSpPr>
          <p:cNvPr id="23" name="Rectangle 22">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8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p:cNvSpPr>
            <a:spLocks noGrp="1"/>
          </p:cNvSpPr>
          <p:nvPr>
            <p:ph type="sldNum" sz="quarter" idx="12"/>
          </p:nvPr>
        </p:nvSpPr>
        <p:spPr>
          <a:xfrm>
            <a:off x="7929372" y="6356351"/>
            <a:ext cx="2057400" cy="365125"/>
          </a:xfrm>
        </p:spPr>
        <p:txBody>
          <a:bodyPr>
            <a:normAutofit/>
          </a:bodyPr>
          <a:lstStyle/>
          <a:p>
            <a:pPr>
              <a:spcAft>
                <a:spcPts val="600"/>
              </a:spcAft>
            </a:pPr>
            <a:fld id="{DC2A8C5E-5ACC-4DAB-B41C-5718F8C58B6D}" type="slidenum">
              <a:rPr lang="en-US">
                <a:solidFill>
                  <a:schemeClr val="tx1">
                    <a:lumMod val="50000"/>
                    <a:lumOff val="50000"/>
                  </a:schemeClr>
                </a:solidFill>
                <a:latin typeface="Times New Roman" panose="02020603050405020304" pitchFamily="18" charset="0"/>
                <a:cs typeface="Times New Roman" panose="02020603050405020304" pitchFamily="18" charset="0"/>
              </a:rPr>
              <a:pPr>
                <a:spcAft>
                  <a:spcPts val="600"/>
                </a:spcAft>
              </a:pPr>
              <a:t>8</a:t>
            </a:fld>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p:graphicFrame>
        <p:nvGraphicFramePr>
          <p:cNvPr id="10" name="Content Placeholder 4">
            <a:extLst>
              <a:ext uri="{FF2B5EF4-FFF2-40B4-BE49-F238E27FC236}">
                <a16:creationId xmlns:a16="http://schemas.microsoft.com/office/drawing/2014/main" id="{2CFE9239-25D1-385E-359A-FB3387334B73}"/>
              </a:ext>
            </a:extLst>
          </p:cNvPr>
          <p:cNvGraphicFramePr>
            <a:graphicFrameLocks noGrp="1"/>
          </p:cNvGraphicFramePr>
          <p:nvPr>
            <p:ph idx="1"/>
            <p:extLst>
              <p:ext uri="{D42A27DB-BD31-4B8C-83A1-F6EECF244321}">
                <p14:modId xmlns:p14="http://schemas.microsoft.com/office/powerpoint/2010/main" val="4477018"/>
              </p:ext>
            </p:extLst>
          </p:nvPr>
        </p:nvGraphicFramePr>
        <p:xfrm>
          <a:off x="2133600" y="1463041"/>
          <a:ext cx="7848600" cy="5120859"/>
        </p:xfrm>
        <a:graphic>
          <a:graphicData uri="http://schemas.openxmlformats.org/drawingml/2006/table">
            <a:tbl>
              <a:tblPr firstRow="1" bandRow="1">
                <a:noFill/>
              </a:tblPr>
              <a:tblGrid>
                <a:gridCol w="2769055">
                  <a:extLst>
                    <a:ext uri="{9D8B030D-6E8A-4147-A177-3AD203B41FA5}">
                      <a16:colId xmlns:a16="http://schemas.microsoft.com/office/drawing/2014/main" val="278624914"/>
                    </a:ext>
                  </a:extLst>
                </a:gridCol>
                <a:gridCol w="5079545">
                  <a:extLst>
                    <a:ext uri="{9D8B030D-6E8A-4147-A177-3AD203B41FA5}">
                      <a16:colId xmlns:a16="http://schemas.microsoft.com/office/drawing/2014/main" val="3684773478"/>
                    </a:ext>
                  </a:extLst>
                </a:gridCol>
              </a:tblGrid>
              <a:tr h="657575">
                <a:tc>
                  <a:txBody>
                    <a:bodyPr/>
                    <a:lstStyle/>
                    <a:p>
                      <a:pPr algn="l">
                        <a:lnSpc>
                          <a:spcPts val="1875"/>
                        </a:lnSpc>
                        <a:buNone/>
                      </a:pPr>
                      <a:r>
                        <a:rPr lang="en-US" sz="1200" b="0" cap="all" spc="150" dirty="0">
                          <a:solidFill>
                            <a:schemeClr val="lt1"/>
                          </a:solidFill>
                          <a:effectLst/>
                          <a:latin typeface="quote-cjk-patch"/>
                        </a:rPr>
                        <a:t>Category</a:t>
                      </a:r>
                    </a:p>
                  </a:txBody>
                  <a:tcPr marL="117047" marR="117047" marT="117047" marB="117047" anchor="ctr">
                    <a:lnL w="12700" cmpd="sng">
                      <a:noFill/>
                    </a:lnL>
                    <a:lnR w="12700" cmpd="sng">
                      <a:noFill/>
                    </a:lnR>
                    <a:lnT w="12700" cmpd="sng">
                      <a:noFill/>
                    </a:lnT>
                    <a:lnB w="38100" cmpd="sng">
                      <a:noFill/>
                    </a:lnB>
                    <a:solidFill>
                      <a:srgbClr val="505356"/>
                    </a:solidFill>
                  </a:tcPr>
                </a:tc>
                <a:tc>
                  <a:txBody>
                    <a:bodyPr/>
                    <a:lstStyle/>
                    <a:p>
                      <a:pPr algn="l">
                        <a:lnSpc>
                          <a:spcPts val="1875"/>
                        </a:lnSpc>
                        <a:buNone/>
                      </a:pPr>
                      <a:r>
                        <a:rPr lang="en-US" sz="1200" b="0" cap="all" spc="150" dirty="0">
                          <a:solidFill>
                            <a:schemeClr val="lt1"/>
                          </a:solidFill>
                          <a:effectLst/>
                          <a:latin typeface="quote-cjk-patch"/>
                        </a:rPr>
                        <a:t>Technologies &amp; Tools</a:t>
                      </a:r>
                    </a:p>
                  </a:txBody>
                  <a:tcPr marL="117047" marR="117047" marT="117047" marB="117047" anchor="ctr">
                    <a:lnL w="12700" cmpd="sng">
                      <a:noFill/>
                    </a:lnL>
                    <a:lnR w="12700" cmpd="sng">
                      <a:noFill/>
                    </a:lnR>
                    <a:lnT w="12700" cmpd="sng">
                      <a:noFill/>
                    </a:lnT>
                    <a:lnB w="38100" cmpd="sng">
                      <a:noFill/>
                    </a:lnB>
                    <a:solidFill>
                      <a:srgbClr val="505356"/>
                    </a:solidFill>
                  </a:tcPr>
                </a:tc>
                <a:extLst>
                  <a:ext uri="{0D108BD9-81ED-4DB2-BD59-A6C34878D82A}">
                    <a16:rowId xmlns:a16="http://schemas.microsoft.com/office/drawing/2014/main" val="3168421745"/>
                  </a:ext>
                </a:extLst>
              </a:tr>
              <a:tr h="637612">
                <a:tc>
                  <a:txBody>
                    <a:bodyPr/>
                    <a:lstStyle/>
                    <a:p>
                      <a:pPr>
                        <a:lnSpc>
                          <a:spcPts val="1875"/>
                        </a:lnSpc>
                        <a:buNone/>
                      </a:pPr>
                      <a:r>
                        <a:rPr lang="en-US" sz="1200" b="1" cap="none" spc="0" dirty="0">
                          <a:solidFill>
                            <a:schemeClr val="tx1"/>
                          </a:solidFill>
                          <a:effectLst/>
                          <a:latin typeface="Times New Roman" panose="02020603050405020304" pitchFamily="18" charset="0"/>
                          <a:cs typeface="Times New Roman" panose="02020603050405020304" pitchFamily="18" charset="0"/>
                        </a:rPr>
                        <a:t>Frontend (Web)</a:t>
                      </a:r>
                      <a:endParaRPr lang="en-US" sz="1200" b="0" cap="none" spc="0" dirty="0">
                        <a:solidFill>
                          <a:schemeClr val="tx1"/>
                        </a:solidFill>
                        <a:effectLst/>
                        <a:latin typeface="Times New Roman" panose="02020603050405020304" pitchFamily="18" charset="0"/>
                        <a:cs typeface="Times New Roman" panose="02020603050405020304" pitchFamily="18" charset="0"/>
                      </a:endParaRPr>
                    </a:p>
                  </a:txBody>
                  <a:tcPr marL="117047" marR="117047" marT="117047" marB="117047" anchor="ctr">
                    <a:lnL w="12700" cmpd="sng">
                      <a:noFill/>
                      <a:prstDash val="solid"/>
                    </a:lnL>
                    <a:lnR w="12700" cmpd="sng">
                      <a:noFill/>
                      <a:prstDash val="solid"/>
                    </a:lnR>
                    <a:lnT w="38100" cmpd="sng">
                      <a:noFill/>
                    </a:lnT>
                    <a:lnB w="12700" cmpd="sng">
                      <a:noFill/>
                      <a:prstDash val="solid"/>
                    </a:lnB>
                    <a:noFill/>
                  </a:tcPr>
                </a:tc>
                <a:tc>
                  <a:txBody>
                    <a:bodyPr/>
                    <a:lstStyle/>
                    <a:p>
                      <a:pPr>
                        <a:lnSpc>
                          <a:spcPts val="1875"/>
                        </a:lnSpc>
                        <a:buNone/>
                      </a:pPr>
                      <a:r>
                        <a:rPr lang="en-US" sz="1200" b="0" cap="none" spc="0" dirty="0">
                          <a:solidFill>
                            <a:schemeClr val="tx1"/>
                          </a:solidFill>
                          <a:effectLst/>
                          <a:latin typeface="Times New Roman" panose="02020603050405020304" pitchFamily="18" charset="0"/>
                          <a:cs typeface="Times New Roman" panose="02020603050405020304" pitchFamily="18" charset="0"/>
                        </a:rPr>
                        <a:t>React.js / Next.js, Tailwind CSS, Google Maps API</a:t>
                      </a:r>
                    </a:p>
                  </a:txBody>
                  <a:tcPr marL="117047" marR="117047" marT="117047" marB="117047"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319829540"/>
                  </a:ext>
                </a:extLst>
              </a:tr>
              <a:tr h="637612">
                <a:tc>
                  <a:txBody>
                    <a:bodyPr/>
                    <a:lstStyle/>
                    <a:p>
                      <a:pPr>
                        <a:lnSpc>
                          <a:spcPts val="1875"/>
                        </a:lnSpc>
                        <a:buNone/>
                      </a:pPr>
                      <a:r>
                        <a:rPr lang="en-US" sz="1200" b="1" cap="none" spc="0" dirty="0">
                          <a:solidFill>
                            <a:schemeClr val="tx1"/>
                          </a:solidFill>
                          <a:effectLst/>
                          <a:latin typeface="Times New Roman" panose="02020603050405020304" pitchFamily="18" charset="0"/>
                          <a:cs typeface="Times New Roman" panose="02020603050405020304" pitchFamily="18" charset="0"/>
                        </a:rPr>
                        <a:t>Mobile Application</a:t>
                      </a:r>
                      <a:endParaRPr lang="en-US" sz="1200" b="0" cap="none" spc="0" dirty="0">
                        <a:solidFill>
                          <a:schemeClr val="tx1"/>
                        </a:solidFill>
                        <a:effectLst/>
                        <a:latin typeface="Times New Roman" panose="02020603050405020304" pitchFamily="18" charset="0"/>
                        <a:cs typeface="Times New Roman" panose="02020603050405020304" pitchFamily="18" charset="0"/>
                      </a:endParaRPr>
                    </a:p>
                  </a:txBody>
                  <a:tcPr marL="117047" marR="117047" marT="117047" marB="11704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lnSpc>
                          <a:spcPts val="1875"/>
                        </a:lnSpc>
                        <a:buNone/>
                      </a:pPr>
                      <a:r>
                        <a:rPr lang="en-US" sz="1200" b="0" cap="none" spc="0" dirty="0">
                          <a:solidFill>
                            <a:schemeClr val="tx1"/>
                          </a:solidFill>
                          <a:effectLst/>
                          <a:latin typeface="Times New Roman" panose="02020603050405020304" pitchFamily="18" charset="0"/>
                          <a:cs typeface="Times New Roman" panose="02020603050405020304" pitchFamily="18" charset="0"/>
                        </a:rPr>
                        <a:t>Flutter (iOS &amp; Android), Firebase Push Notifications, Dart</a:t>
                      </a:r>
                    </a:p>
                  </a:txBody>
                  <a:tcPr marL="117047" marR="117047" marT="117047" marB="11704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3569710922"/>
                  </a:ext>
                </a:extLst>
              </a:tr>
              <a:tr h="637612">
                <a:tc>
                  <a:txBody>
                    <a:bodyPr/>
                    <a:lstStyle/>
                    <a:p>
                      <a:pPr>
                        <a:lnSpc>
                          <a:spcPts val="1875"/>
                        </a:lnSpc>
                        <a:buNone/>
                      </a:pPr>
                      <a:r>
                        <a:rPr lang="en-US" sz="1200" b="1" cap="none" spc="0" dirty="0">
                          <a:solidFill>
                            <a:schemeClr val="tx1"/>
                          </a:solidFill>
                          <a:effectLst/>
                          <a:latin typeface="Times New Roman" panose="02020603050405020304" pitchFamily="18" charset="0"/>
                          <a:cs typeface="Times New Roman" panose="02020603050405020304" pitchFamily="18" charset="0"/>
                        </a:rPr>
                        <a:t>Backend</a:t>
                      </a:r>
                      <a:endParaRPr lang="en-US" sz="1200" b="0" cap="none" spc="0" dirty="0">
                        <a:solidFill>
                          <a:schemeClr val="tx1"/>
                        </a:solidFill>
                        <a:effectLst/>
                        <a:latin typeface="Times New Roman" panose="02020603050405020304" pitchFamily="18" charset="0"/>
                        <a:cs typeface="Times New Roman" panose="02020603050405020304" pitchFamily="18" charset="0"/>
                      </a:endParaRPr>
                    </a:p>
                  </a:txBody>
                  <a:tcPr marL="117047" marR="117047" marT="117047" marB="117047" anchor="ctr">
                    <a:lnL w="12700" cmpd="sng">
                      <a:noFill/>
                      <a:prstDash val="solid"/>
                    </a:lnL>
                    <a:lnR w="12700" cmpd="sng">
                      <a:noFill/>
                      <a:prstDash val="solid"/>
                    </a:lnR>
                    <a:lnT w="12700" cmpd="sng">
                      <a:noFill/>
                      <a:prstDash val="solid"/>
                    </a:lnT>
                    <a:lnB w="12700" cmpd="sng">
                      <a:noFill/>
                      <a:prstDash val="solid"/>
                    </a:lnB>
                    <a:noFill/>
                  </a:tcPr>
                </a:tc>
                <a:tc>
                  <a:txBody>
                    <a:bodyPr/>
                    <a:lstStyle/>
                    <a:p>
                      <a:pPr>
                        <a:lnSpc>
                          <a:spcPts val="1875"/>
                        </a:lnSpc>
                        <a:buNone/>
                      </a:pPr>
                      <a:r>
                        <a:rPr lang="en-US" sz="1200" b="0" cap="none" spc="0" dirty="0">
                          <a:solidFill>
                            <a:schemeClr val="tx1"/>
                          </a:solidFill>
                          <a:effectLst/>
                          <a:latin typeface="Times New Roman" panose="02020603050405020304" pitchFamily="18" charset="0"/>
                          <a:cs typeface="Times New Roman" panose="02020603050405020304" pitchFamily="18" charset="0"/>
                        </a:rPr>
                        <a:t>Node.js + Express.js, REST API, JWT Auth, </a:t>
                      </a:r>
                      <a:r>
                        <a:rPr lang="en-US" sz="1200" b="0" u="none" strike="noStrike" cap="none" spc="0" dirty="0">
                          <a:solidFill>
                            <a:schemeClr val="tx1"/>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Socket.io</a:t>
                      </a:r>
                      <a:endParaRPr lang="en-US" sz="1200" b="0" cap="none" spc="0" dirty="0">
                        <a:solidFill>
                          <a:schemeClr val="tx1"/>
                        </a:solidFill>
                        <a:effectLst/>
                        <a:latin typeface="Times New Roman" panose="02020603050405020304" pitchFamily="18" charset="0"/>
                        <a:cs typeface="Times New Roman" panose="02020603050405020304" pitchFamily="18" charset="0"/>
                      </a:endParaRPr>
                    </a:p>
                  </a:txBody>
                  <a:tcPr marL="117047" marR="117047" marT="117047" marB="117047"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7554799"/>
                  </a:ext>
                </a:extLst>
              </a:tr>
              <a:tr h="637612">
                <a:tc>
                  <a:txBody>
                    <a:bodyPr/>
                    <a:lstStyle/>
                    <a:p>
                      <a:pPr>
                        <a:lnSpc>
                          <a:spcPts val="1875"/>
                        </a:lnSpc>
                        <a:buNone/>
                      </a:pPr>
                      <a:r>
                        <a:rPr lang="en-US" sz="1200" b="1" cap="none" spc="0" dirty="0">
                          <a:solidFill>
                            <a:schemeClr val="tx1"/>
                          </a:solidFill>
                          <a:effectLst/>
                          <a:latin typeface="Times New Roman" panose="02020603050405020304" pitchFamily="18" charset="0"/>
                          <a:cs typeface="Times New Roman" panose="02020603050405020304" pitchFamily="18" charset="0"/>
                        </a:rPr>
                        <a:t>AI / Machine Learning</a:t>
                      </a:r>
                      <a:endParaRPr lang="en-US" sz="1200" b="0" cap="none" spc="0" dirty="0">
                        <a:solidFill>
                          <a:schemeClr val="tx1"/>
                        </a:solidFill>
                        <a:effectLst/>
                        <a:latin typeface="Times New Roman" panose="02020603050405020304" pitchFamily="18" charset="0"/>
                        <a:cs typeface="Times New Roman" panose="02020603050405020304" pitchFamily="18" charset="0"/>
                      </a:endParaRPr>
                    </a:p>
                  </a:txBody>
                  <a:tcPr marL="117047" marR="117047" marT="117047" marB="11704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lnSpc>
                          <a:spcPts val="1875"/>
                        </a:lnSpc>
                        <a:buNone/>
                      </a:pPr>
                      <a:r>
                        <a:rPr lang="en-US" sz="1200" b="0" cap="none" spc="0" dirty="0">
                          <a:solidFill>
                            <a:schemeClr val="tx1"/>
                          </a:solidFill>
                          <a:effectLst/>
                          <a:latin typeface="Times New Roman" panose="02020603050405020304" pitchFamily="18" charset="0"/>
                          <a:cs typeface="Times New Roman" panose="02020603050405020304" pitchFamily="18" charset="0"/>
                        </a:rPr>
                        <a:t>Python, Scikit-learn / </a:t>
                      </a:r>
                      <a:r>
                        <a:rPr lang="en-US" sz="1200" b="0" cap="none" spc="0" dirty="0" err="1">
                          <a:solidFill>
                            <a:schemeClr val="tx1"/>
                          </a:solidFill>
                          <a:effectLst/>
                          <a:latin typeface="Times New Roman" panose="02020603050405020304" pitchFamily="18" charset="0"/>
                          <a:cs typeface="Times New Roman" panose="02020603050405020304" pitchFamily="18" charset="0"/>
                        </a:rPr>
                        <a:t>XGBoost</a:t>
                      </a:r>
                      <a:r>
                        <a:rPr lang="en-US" sz="1200" b="0" cap="none" spc="0" dirty="0">
                          <a:solidFill>
                            <a:schemeClr val="tx1"/>
                          </a:solidFill>
                          <a:effectLst/>
                          <a:latin typeface="Times New Roman" panose="02020603050405020304" pitchFamily="18" charset="0"/>
                          <a:cs typeface="Times New Roman" panose="02020603050405020304" pitchFamily="18" charset="0"/>
                        </a:rPr>
                        <a:t>, TensorFlow, Pandas, Flask (ML microservice)</a:t>
                      </a:r>
                    </a:p>
                  </a:txBody>
                  <a:tcPr marL="117047" marR="117047" marT="117047" marB="11704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3970111700"/>
                  </a:ext>
                </a:extLst>
              </a:tr>
              <a:tr h="637612">
                <a:tc>
                  <a:txBody>
                    <a:bodyPr/>
                    <a:lstStyle/>
                    <a:p>
                      <a:pPr>
                        <a:lnSpc>
                          <a:spcPts val="1875"/>
                        </a:lnSpc>
                        <a:buNone/>
                      </a:pPr>
                      <a:r>
                        <a:rPr lang="en-US" sz="1200" b="1" cap="none" spc="0" dirty="0">
                          <a:solidFill>
                            <a:schemeClr val="tx1"/>
                          </a:solidFill>
                          <a:effectLst/>
                          <a:latin typeface="Times New Roman" panose="02020603050405020304" pitchFamily="18" charset="0"/>
                          <a:cs typeface="Times New Roman" panose="02020603050405020304" pitchFamily="18" charset="0"/>
                        </a:rPr>
                        <a:t>Database</a:t>
                      </a:r>
                      <a:endParaRPr lang="en-US" sz="1200" b="0" cap="none" spc="0" dirty="0">
                        <a:solidFill>
                          <a:schemeClr val="tx1"/>
                        </a:solidFill>
                        <a:effectLst/>
                        <a:latin typeface="Times New Roman" panose="02020603050405020304" pitchFamily="18" charset="0"/>
                        <a:cs typeface="Times New Roman" panose="02020603050405020304" pitchFamily="18" charset="0"/>
                      </a:endParaRPr>
                    </a:p>
                  </a:txBody>
                  <a:tcPr marL="117047" marR="117047" marT="117047" marB="117047" anchor="ctr">
                    <a:lnL w="12700" cmpd="sng">
                      <a:noFill/>
                      <a:prstDash val="solid"/>
                    </a:lnL>
                    <a:lnR w="12700" cmpd="sng">
                      <a:noFill/>
                      <a:prstDash val="solid"/>
                    </a:lnR>
                    <a:lnT w="12700" cmpd="sng">
                      <a:noFill/>
                      <a:prstDash val="solid"/>
                    </a:lnT>
                    <a:lnB w="12700" cmpd="sng">
                      <a:noFill/>
                      <a:prstDash val="solid"/>
                    </a:lnB>
                    <a:noFill/>
                  </a:tcPr>
                </a:tc>
                <a:tc>
                  <a:txBody>
                    <a:bodyPr/>
                    <a:lstStyle/>
                    <a:p>
                      <a:pPr>
                        <a:lnSpc>
                          <a:spcPts val="1875"/>
                        </a:lnSpc>
                        <a:buNone/>
                      </a:pPr>
                      <a:r>
                        <a:rPr lang="en-US" sz="1200" b="0" cap="none" spc="0" dirty="0">
                          <a:solidFill>
                            <a:schemeClr val="tx1"/>
                          </a:solidFill>
                          <a:effectLst/>
                          <a:latin typeface="Times New Roman" panose="02020603050405020304" pitchFamily="18" charset="0"/>
                          <a:cs typeface="Times New Roman" panose="02020603050405020304" pitchFamily="18" charset="0"/>
                        </a:rPr>
                        <a:t>MongoDB, Firebase </a:t>
                      </a:r>
                      <a:r>
                        <a:rPr lang="en-US" sz="1200" b="0" cap="none" spc="0" dirty="0" err="1">
                          <a:solidFill>
                            <a:schemeClr val="tx1"/>
                          </a:solidFill>
                          <a:effectLst/>
                          <a:latin typeface="Times New Roman" panose="02020603050405020304" pitchFamily="18" charset="0"/>
                          <a:cs typeface="Times New Roman" panose="02020603050405020304" pitchFamily="18" charset="0"/>
                        </a:rPr>
                        <a:t>Firestore</a:t>
                      </a:r>
                      <a:endParaRPr lang="en-US" sz="1200" b="0" cap="none" spc="0" dirty="0">
                        <a:solidFill>
                          <a:schemeClr val="tx1"/>
                        </a:solidFill>
                        <a:effectLst/>
                        <a:latin typeface="Times New Roman" panose="02020603050405020304" pitchFamily="18" charset="0"/>
                        <a:cs typeface="Times New Roman" panose="02020603050405020304" pitchFamily="18" charset="0"/>
                      </a:endParaRPr>
                    </a:p>
                  </a:txBody>
                  <a:tcPr marL="117047" marR="117047" marT="117047" marB="117047"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568345870"/>
                  </a:ext>
                </a:extLst>
              </a:tr>
              <a:tr h="637612">
                <a:tc>
                  <a:txBody>
                    <a:bodyPr/>
                    <a:lstStyle/>
                    <a:p>
                      <a:pPr>
                        <a:lnSpc>
                          <a:spcPts val="1875"/>
                        </a:lnSpc>
                        <a:buNone/>
                      </a:pPr>
                      <a:r>
                        <a:rPr lang="en-US" sz="1200" b="1" cap="none" spc="0" dirty="0">
                          <a:solidFill>
                            <a:schemeClr val="tx1"/>
                          </a:solidFill>
                          <a:effectLst/>
                          <a:latin typeface="Times New Roman" panose="02020603050405020304" pitchFamily="18" charset="0"/>
                          <a:cs typeface="Times New Roman" panose="02020603050405020304" pitchFamily="18" charset="0"/>
                        </a:rPr>
                        <a:t>DevOps &amp; Hosting</a:t>
                      </a:r>
                      <a:endParaRPr lang="en-US" sz="1200" b="0" cap="none" spc="0" dirty="0">
                        <a:solidFill>
                          <a:schemeClr val="tx1"/>
                        </a:solidFill>
                        <a:effectLst/>
                        <a:latin typeface="Times New Roman" panose="02020603050405020304" pitchFamily="18" charset="0"/>
                        <a:cs typeface="Times New Roman" panose="02020603050405020304" pitchFamily="18" charset="0"/>
                      </a:endParaRPr>
                    </a:p>
                  </a:txBody>
                  <a:tcPr marL="117047" marR="117047" marT="117047" marB="11704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lnSpc>
                          <a:spcPts val="1875"/>
                        </a:lnSpc>
                        <a:buNone/>
                      </a:pPr>
                      <a:r>
                        <a:rPr lang="en-US" sz="1200" b="0" cap="none" spc="0" dirty="0">
                          <a:solidFill>
                            <a:schemeClr val="tx1"/>
                          </a:solidFill>
                          <a:effectLst/>
                          <a:latin typeface="Times New Roman" panose="02020603050405020304" pitchFamily="18" charset="0"/>
                          <a:cs typeface="Times New Roman" panose="02020603050405020304" pitchFamily="18" charset="0"/>
                        </a:rPr>
                        <a:t>AWS / Google Cloud, Docker, GitHub, CI/CD Pipeline</a:t>
                      </a:r>
                    </a:p>
                  </a:txBody>
                  <a:tcPr marL="117047" marR="117047" marT="117047" marB="11704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1532773817"/>
                  </a:ext>
                </a:extLst>
              </a:tr>
              <a:tr h="637612">
                <a:tc>
                  <a:txBody>
                    <a:bodyPr/>
                    <a:lstStyle/>
                    <a:p>
                      <a:pPr>
                        <a:lnSpc>
                          <a:spcPts val="1875"/>
                        </a:lnSpc>
                        <a:buNone/>
                      </a:pPr>
                      <a:r>
                        <a:rPr lang="en-US" sz="1200" b="1" cap="none" spc="0" dirty="0">
                          <a:solidFill>
                            <a:schemeClr val="tx1"/>
                          </a:solidFill>
                          <a:effectLst/>
                          <a:latin typeface="Times New Roman" panose="02020603050405020304" pitchFamily="18" charset="0"/>
                          <a:cs typeface="Times New Roman" panose="02020603050405020304" pitchFamily="18" charset="0"/>
                        </a:rPr>
                        <a:t>Development Tools</a:t>
                      </a:r>
                      <a:endParaRPr lang="en-US" sz="1200" b="0" cap="none" spc="0" dirty="0">
                        <a:solidFill>
                          <a:schemeClr val="tx1"/>
                        </a:solidFill>
                        <a:effectLst/>
                        <a:latin typeface="Times New Roman" panose="02020603050405020304" pitchFamily="18" charset="0"/>
                        <a:cs typeface="Times New Roman" panose="02020603050405020304" pitchFamily="18" charset="0"/>
                      </a:endParaRPr>
                    </a:p>
                  </a:txBody>
                  <a:tcPr marL="117047" marR="117047" marT="117047" marB="117047" anchor="ctr">
                    <a:lnL w="12700" cmpd="sng">
                      <a:noFill/>
                      <a:prstDash val="solid"/>
                    </a:lnL>
                    <a:lnR w="12700" cmpd="sng">
                      <a:noFill/>
                      <a:prstDash val="solid"/>
                    </a:lnR>
                    <a:lnT w="12700" cmpd="sng">
                      <a:noFill/>
                      <a:prstDash val="solid"/>
                    </a:lnT>
                    <a:lnB w="12700" cmpd="sng">
                      <a:noFill/>
                      <a:prstDash val="solid"/>
                    </a:lnB>
                    <a:noFill/>
                  </a:tcPr>
                </a:tc>
                <a:tc>
                  <a:txBody>
                    <a:bodyPr/>
                    <a:lstStyle/>
                    <a:p>
                      <a:pPr>
                        <a:lnSpc>
                          <a:spcPts val="1875"/>
                        </a:lnSpc>
                        <a:buNone/>
                      </a:pPr>
                      <a:r>
                        <a:rPr lang="en-US" sz="1200" b="0" cap="none" spc="0" dirty="0">
                          <a:solidFill>
                            <a:schemeClr val="tx1"/>
                          </a:solidFill>
                          <a:effectLst/>
                          <a:latin typeface="Times New Roman" panose="02020603050405020304" pitchFamily="18" charset="0"/>
                          <a:cs typeface="Times New Roman" panose="02020603050405020304" pitchFamily="18" charset="0"/>
                        </a:rPr>
                        <a:t>VS Code, Postman, Figma, Google </a:t>
                      </a:r>
                      <a:r>
                        <a:rPr lang="en-US" sz="1200" b="0" cap="none" spc="0" dirty="0" err="1">
                          <a:solidFill>
                            <a:schemeClr val="tx1"/>
                          </a:solidFill>
                          <a:effectLst/>
                          <a:latin typeface="Times New Roman" panose="02020603050405020304" pitchFamily="18" charset="0"/>
                          <a:cs typeface="Times New Roman" panose="02020603050405020304" pitchFamily="18" charset="0"/>
                        </a:rPr>
                        <a:t>Colab</a:t>
                      </a:r>
                      <a:endParaRPr lang="en-US" sz="1200" b="0" cap="none" spc="0" dirty="0">
                        <a:solidFill>
                          <a:schemeClr val="tx1"/>
                        </a:solidFill>
                        <a:effectLst/>
                        <a:latin typeface="Times New Roman" panose="02020603050405020304" pitchFamily="18" charset="0"/>
                        <a:cs typeface="Times New Roman" panose="02020603050405020304" pitchFamily="18" charset="0"/>
                      </a:endParaRPr>
                    </a:p>
                  </a:txBody>
                  <a:tcPr marL="117047" marR="117047" marT="117047" marB="117047"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095962722"/>
                  </a:ext>
                </a:extLst>
              </a:tr>
            </a:tbl>
          </a:graphicData>
        </a:graphic>
      </p:graphicFrame>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2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9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2" name="Title 1"/>
          <p:cNvSpPr>
            <a:spLocks noGrp="1"/>
          </p:cNvSpPr>
          <p:nvPr>
            <p:ph type="title"/>
          </p:nvPr>
        </p:nvSpPr>
        <p:spPr>
          <a:xfrm>
            <a:off x="2360676" y="548640"/>
            <a:ext cx="7626096" cy="914400"/>
          </a:xfrm>
        </p:spPr>
        <p:txBody>
          <a:bodyPr>
            <a:normAutofit/>
          </a:bodyPr>
          <a:lstStyle/>
          <a:p>
            <a:pPr lvl="0" algn="l">
              <a:buNone/>
            </a:pPr>
            <a:r>
              <a:rPr lang="en-US" sz="3500" dirty="0">
                <a:latin typeface="Times New Roman" panose="02020603050405020304" pitchFamily="18" charset="0"/>
                <a:cs typeface="Times New Roman" panose="02020603050405020304" pitchFamily="18" charset="0"/>
              </a:rPr>
              <a:t>Feasibility: Technical</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8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p:cNvSpPr>
            <a:spLocks noGrp="1"/>
          </p:cNvSpPr>
          <p:nvPr>
            <p:ph type="sldNum" sz="quarter" idx="12"/>
          </p:nvPr>
        </p:nvSpPr>
        <p:spPr>
          <a:xfrm>
            <a:off x="7929372" y="6356351"/>
            <a:ext cx="2057400" cy="365125"/>
          </a:xfrm>
        </p:spPr>
        <p:txBody>
          <a:bodyPr>
            <a:normAutofit/>
          </a:bodyPr>
          <a:lstStyle/>
          <a:p>
            <a:pPr>
              <a:spcAft>
                <a:spcPts val="600"/>
              </a:spcAft>
            </a:pPr>
            <a:fld id="{DC2A8C5E-5ACC-4DAB-B41C-5718F8C58B6D}" type="slidenum">
              <a:rPr lang="en-US">
                <a:solidFill>
                  <a:schemeClr val="tx1">
                    <a:lumMod val="50000"/>
                    <a:lumOff val="50000"/>
                  </a:schemeClr>
                </a:solidFill>
                <a:latin typeface="Times New Roman" panose="02020603050405020304" pitchFamily="18" charset="0"/>
                <a:cs typeface="Times New Roman" panose="02020603050405020304" pitchFamily="18" charset="0"/>
              </a:rPr>
              <a:pPr>
                <a:spcAft>
                  <a:spcPts val="600"/>
                </a:spcAft>
              </a:pPr>
              <a:t>9</a:t>
            </a:fld>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DDB7DA-9FD9-CD71-15E5-DF78102957E9}"/>
              </a:ext>
            </a:extLst>
          </p:cNvPr>
          <p:cNvSpPr>
            <a:spLocks noGrp="1"/>
          </p:cNvSpPr>
          <p:nvPr>
            <p:ph idx="1"/>
          </p:nvPr>
        </p:nvSpPr>
        <p:spPr>
          <a:xfrm>
            <a:off x="1981200" y="2018807"/>
            <a:ext cx="8229600" cy="4107357"/>
          </a:xfrm>
        </p:spPr>
        <p:txBody>
          <a:bodyPr>
            <a:normAutofit fontScale="47500" lnSpcReduction="20000"/>
          </a:bodyPr>
          <a:lstStyle/>
          <a:p>
            <a:r>
              <a:rPr lang="en-US" b="1" dirty="0">
                <a:latin typeface="Times New Roman" panose="02020603050405020304" pitchFamily="18" charset="0"/>
                <a:cs typeface="Times New Roman" panose="02020603050405020304" pitchFamily="18" charset="0"/>
              </a:rPr>
              <a:t>AI &amp; Machine Learning:</a:t>
            </a:r>
          </a:p>
          <a:p>
            <a:r>
              <a:rPr lang="en-US" dirty="0">
                <a:latin typeface="Times New Roman" panose="02020603050405020304" pitchFamily="18" charset="0"/>
                <a:cs typeface="Times New Roman" panose="02020603050405020304" pitchFamily="18" charset="0"/>
              </a:rPr>
              <a:t>FEASIBLE — Mature frameworks (Scikit-learn,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TensorFlow); public Pakistan datasets on Kaggle; team has ML background.</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Web Frontend (React.js):</a:t>
            </a:r>
          </a:p>
          <a:p>
            <a:r>
              <a:rPr lang="en-US" dirty="0">
                <a:latin typeface="Times New Roman" panose="02020603050405020304" pitchFamily="18" charset="0"/>
                <a:cs typeface="Times New Roman" panose="02020603050405020304" pitchFamily="18" charset="0"/>
              </a:rPr>
              <a:t>FEASIBLE — Widely adopted framework; team experienced in JavaScript/TypeScript; Maps API well-documented.</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Mobile App (Flutter):</a:t>
            </a:r>
          </a:p>
          <a:p>
            <a:r>
              <a:rPr lang="en-US" dirty="0">
                <a:latin typeface="Times New Roman" panose="02020603050405020304" pitchFamily="18" charset="0"/>
                <a:cs typeface="Times New Roman" panose="02020603050405020304" pitchFamily="18" charset="0"/>
              </a:rPr>
              <a:t>FEASIBLE — Single Dart codebase for iOS &amp; Android; Firebase provides ready-made auth and notifications.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Backend &amp; Database (Node.js + MongoDB):</a:t>
            </a:r>
          </a:p>
          <a:p>
            <a:r>
              <a:rPr lang="en-US" dirty="0">
                <a:latin typeface="Times New Roman" panose="02020603050405020304" pitchFamily="18" charset="0"/>
                <a:cs typeface="Times New Roman" panose="02020603050405020304" pitchFamily="18" charset="0"/>
              </a:rPr>
              <a:t>FEASIBLE — Lightweight, scalable stack; MongoDB handles varied property data.</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Third-Party APIs:</a:t>
            </a:r>
          </a:p>
          <a:p>
            <a:r>
              <a:rPr lang="en-US" dirty="0">
                <a:latin typeface="Times New Roman" panose="02020603050405020304" pitchFamily="18" charset="0"/>
                <a:cs typeface="Times New Roman" panose="02020603050405020304" pitchFamily="18" charset="0"/>
              </a:rPr>
              <a:t>MODERATE — Maps API free tier</a:t>
            </a:r>
            <a:endParaRPr lang="en-US" dirty="0"/>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2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9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2" name="Title 1"/>
          <p:cNvSpPr>
            <a:spLocks noGrp="1"/>
          </p:cNvSpPr>
          <p:nvPr>
            <p:ph type="title"/>
          </p:nvPr>
        </p:nvSpPr>
        <p:spPr>
          <a:xfrm>
            <a:off x="2360676" y="548640"/>
            <a:ext cx="7626096" cy="1179576"/>
          </a:xfrm>
        </p:spPr>
        <p:txBody>
          <a:bodyPr>
            <a:normAutofit/>
          </a:bodyPr>
          <a:lstStyle/>
          <a:p>
            <a:pPr lvl="0" algn="l">
              <a:buNone/>
            </a:pPr>
            <a:r>
              <a:rPr lang="en-US" sz="3500" dirty="0">
                <a:latin typeface="Times New Roman" panose="02020603050405020304" pitchFamily="18" charset="0"/>
                <a:cs typeface="Times New Roman" panose="02020603050405020304" pitchFamily="18" charset="0"/>
              </a:rPr>
              <a:t>Feasibility: Financial</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8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2360676" y="2481943"/>
            <a:ext cx="7626096" cy="3695020"/>
          </a:xfrm>
        </p:spPr>
        <p:txBody>
          <a:bodyPr>
            <a:normAutofit/>
          </a:bodyPr>
          <a:lstStyle/>
          <a:p>
            <a:r>
              <a:rPr lang="en-US" sz="1600" dirty="0"/>
              <a:t>Cloud hosting platforms such as AWS or Google Cloud free-tier services will be used for deployment and testing.</a:t>
            </a:r>
          </a:p>
          <a:p>
            <a:r>
              <a:rPr lang="en-US" sz="1600" dirty="0"/>
              <a:t>Google Maps API will support location-based property search and map integration.</a:t>
            </a:r>
          </a:p>
          <a:p>
            <a:r>
              <a:rPr lang="en-US" sz="1600" dirty="0"/>
              <a:t>Open-source AI/ML libraries including Python, Scikit-learn, TensorFlow, and Pandas will be utilized for model development.</a:t>
            </a:r>
          </a:p>
          <a:p>
            <a:r>
              <a:rPr lang="en-US" sz="1600" dirty="0"/>
              <a:t>React.js, Flutter, Node.js, and MongoDB will be used as the primary development technologies.</a:t>
            </a:r>
          </a:p>
          <a:p>
            <a:r>
              <a:rPr lang="en-US" sz="1600" dirty="0"/>
              <a:t>Google </a:t>
            </a:r>
            <a:r>
              <a:rPr lang="en-US" sz="1600" dirty="0" err="1"/>
              <a:t>Colab</a:t>
            </a:r>
            <a:r>
              <a:rPr lang="en-US" sz="1600" dirty="0"/>
              <a:t> and GitHub will assist in ML training, collaboration, and version control.</a:t>
            </a: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7929372" y="6356351"/>
            <a:ext cx="2057400" cy="365125"/>
          </a:xfrm>
        </p:spPr>
        <p:txBody>
          <a:bodyPr>
            <a:normAutofit/>
          </a:bodyPr>
          <a:lstStyle/>
          <a:p>
            <a:pPr>
              <a:spcAft>
                <a:spcPts val="600"/>
              </a:spcAft>
            </a:pPr>
            <a:fld id="{DC2A8C5E-5ACC-4DAB-B41C-5718F8C58B6D}" type="slidenum">
              <a:rPr lang="en-US">
                <a:solidFill>
                  <a:schemeClr val="tx1">
                    <a:lumMod val="50000"/>
                    <a:lumOff val="50000"/>
                  </a:schemeClr>
                </a:solidFill>
                <a:latin typeface="Times New Roman" panose="02020603050405020304" pitchFamily="18" charset="0"/>
                <a:cs typeface="Times New Roman" panose="02020603050405020304" pitchFamily="18" charset="0"/>
              </a:rPr>
              <a:pPr>
                <a:spcAft>
                  <a:spcPts val="600"/>
                </a:spcAft>
              </a:pPr>
              <a:t>10</a:t>
            </a:fld>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2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9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2" name="Title 1"/>
          <p:cNvSpPr>
            <a:spLocks noGrp="1"/>
          </p:cNvSpPr>
          <p:nvPr>
            <p:ph type="title"/>
          </p:nvPr>
        </p:nvSpPr>
        <p:spPr>
          <a:xfrm>
            <a:off x="2360676" y="548640"/>
            <a:ext cx="7626096" cy="1179576"/>
          </a:xfrm>
        </p:spPr>
        <p:txBody>
          <a:bodyPr>
            <a:normAutofit/>
          </a:bodyPr>
          <a:lstStyle/>
          <a:p>
            <a:pPr lvl="0" algn="l">
              <a:buNone/>
            </a:pPr>
            <a:r>
              <a:rPr lang="en-US" sz="3500" dirty="0">
                <a:latin typeface="Times New Roman" panose="02020603050405020304" pitchFamily="18" charset="0"/>
                <a:cs typeface="Times New Roman" panose="02020603050405020304" pitchFamily="18" charset="0"/>
              </a:rPr>
              <a:t>Feasibility: Resource</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8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2360676" y="2481943"/>
            <a:ext cx="7626096" cy="3695020"/>
          </a:xfrm>
        </p:spPr>
        <p:txBody>
          <a:bodyPr>
            <a:normAutofit/>
          </a:bodyPr>
          <a:lstStyle/>
          <a:p>
            <a:r>
              <a:rPr lang="en-US" sz="1600" b="1" dirty="0"/>
              <a:t>Human Resources:</a:t>
            </a:r>
            <a:r>
              <a:rPr lang="en-US" sz="1600" dirty="0"/>
              <a:t> 3 </a:t>
            </a:r>
            <a:r>
              <a:rPr lang="en-US" sz="1600" dirty="0" err="1"/>
              <a:t>devs</a:t>
            </a:r>
            <a:r>
              <a:rPr lang="en-US" sz="1600" dirty="0"/>
              <a:t> (frontend, backend, ML, mobile) + faculty supervisor + campus facilities</a:t>
            </a:r>
          </a:p>
          <a:p>
            <a:r>
              <a:rPr lang="en-US" sz="1600" b="1" dirty="0"/>
              <a:t>Hardware:</a:t>
            </a:r>
            <a:r>
              <a:rPr lang="en-US" sz="1600" dirty="0"/>
              <a:t> Team laptops, Android/iOS test phones, university server access</a:t>
            </a:r>
          </a:p>
          <a:p>
            <a:r>
              <a:rPr lang="en-US" sz="1600" b="1" dirty="0"/>
              <a:t>Software:</a:t>
            </a:r>
            <a:r>
              <a:rPr lang="en-US" sz="1600" dirty="0"/>
              <a:t> React.js, Flutter, Node.js, Python, MongoDB, VS Code, Git, Google </a:t>
            </a:r>
            <a:r>
              <a:rPr lang="en-US" sz="1600" dirty="0" err="1"/>
              <a:t>Colab</a:t>
            </a:r>
            <a:r>
              <a:rPr lang="en-US" sz="1600" dirty="0"/>
              <a:t> (free GPU)</a:t>
            </a:r>
          </a:p>
          <a:p>
            <a:r>
              <a:rPr lang="en-US" sz="1600" b="1" dirty="0"/>
              <a:t>Data:</a:t>
            </a:r>
            <a:r>
              <a:rPr lang="en-US" sz="1600" dirty="0"/>
              <a:t> Pakistan real estate datasets (Kaggle, public listings) + synthetic data</a:t>
            </a:r>
          </a:p>
          <a:p>
            <a:r>
              <a:rPr lang="en-US" sz="1600" b="1" dirty="0"/>
              <a:t>Feasibility:</a:t>
            </a:r>
            <a:r>
              <a:rPr lang="en-US" sz="1600" dirty="0"/>
              <a:t> All resources available — project is feasible</a:t>
            </a:r>
          </a:p>
          <a:p>
            <a:pPr marL="0" indent="0">
              <a:buNone/>
            </a:pPr>
            <a:br>
              <a:rPr lang="en-US" sz="1600" dirty="0"/>
            </a:br>
            <a:endParaRPr 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7929372" y="6356351"/>
            <a:ext cx="2057400" cy="365125"/>
          </a:xfrm>
        </p:spPr>
        <p:txBody>
          <a:bodyPr>
            <a:normAutofit/>
          </a:bodyPr>
          <a:lstStyle/>
          <a:p>
            <a:pPr>
              <a:spcAft>
                <a:spcPts val="600"/>
              </a:spcAft>
            </a:pPr>
            <a:fld id="{DC2A8C5E-5ACC-4DAB-B41C-5718F8C58B6D}" type="slidenum">
              <a:rPr lang="en-US">
                <a:solidFill>
                  <a:schemeClr val="tx1">
                    <a:lumMod val="50000"/>
                    <a:lumOff val="50000"/>
                  </a:schemeClr>
                </a:solidFill>
                <a:latin typeface="Times New Roman" panose="02020603050405020304" pitchFamily="18" charset="0"/>
                <a:cs typeface="Times New Roman" panose="02020603050405020304" pitchFamily="18" charset="0"/>
              </a:rPr>
              <a:pPr>
                <a:spcAft>
                  <a:spcPts val="600"/>
                </a:spcAft>
              </a:pPr>
              <a:t>11</a:t>
            </a:fld>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2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9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2" name="Title 1"/>
          <p:cNvSpPr>
            <a:spLocks noGrp="1"/>
          </p:cNvSpPr>
          <p:nvPr>
            <p:ph type="title"/>
          </p:nvPr>
        </p:nvSpPr>
        <p:spPr>
          <a:xfrm>
            <a:off x="2360676" y="548640"/>
            <a:ext cx="7626096" cy="1179576"/>
          </a:xfrm>
        </p:spPr>
        <p:txBody>
          <a:bodyPr>
            <a:normAutofit/>
          </a:bodyPr>
          <a:lstStyle/>
          <a:p>
            <a:pPr lvl="0" algn="l">
              <a:buNone/>
            </a:pPr>
            <a:r>
              <a:rPr lang="en-US" sz="3500" dirty="0">
                <a:latin typeface="Times New Roman" panose="02020603050405020304" pitchFamily="18" charset="0"/>
                <a:cs typeface="Times New Roman" panose="02020603050405020304" pitchFamily="18" charset="0"/>
              </a:rPr>
              <a:t>Feasibility: Operational</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8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2360676" y="2481943"/>
            <a:ext cx="7626096" cy="3695020"/>
          </a:xfrm>
        </p:spPr>
        <p:txBody>
          <a:bodyPr>
            <a:normAutofit fontScale="85000" lnSpcReduction="20000"/>
          </a:bodyPr>
          <a:lstStyle/>
          <a:p>
            <a:r>
              <a:rPr lang="en-US" sz="2100" b="1" dirty="0"/>
              <a:t>User Acceptance:</a:t>
            </a:r>
            <a:r>
              <a:rPr lang="en-US" sz="2100" dirty="0"/>
              <a:t> Familiar UX (like </a:t>
            </a:r>
            <a:r>
              <a:rPr lang="en-US" sz="2100" dirty="0">
                <a:hlinkClick r:id="rId2"/>
              </a:rPr>
              <a:t>Zameen.com</a:t>
            </a:r>
            <a:r>
              <a:rPr lang="en-US" sz="2100" dirty="0"/>
              <a:t>) + bilingual (English/Urdu) → easy adoption across Pakistan</a:t>
            </a:r>
          </a:p>
          <a:p>
            <a:r>
              <a:rPr lang="en-US" sz="2100" b="1" dirty="0"/>
              <a:t>System Usability:</a:t>
            </a:r>
            <a:r>
              <a:rPr lang="en-US" sz="2100" dirty="0"/>
              <a:t> Responsive web + native mobile apps + role-based dashboards (buyers, sellers, agents, admins)</a:t>
            </a:r>
          </a:p>
          <a:p>
            <a:r>
              <a:rPr lang="en-US" sz="2100" b="1" dirty="0"/>
              <a:t>Scalability:</a:t>
            </a:r>
            <a:r>
              <a:rPr lang="en-US" sz="2100" dirty="0"/>
              <a:t> Microservices + AWS/GCP auto-scaling → cost‑effective for student deployment</a:t>
            </a:r>
          </a:p>
          <a:p>
            <a:r>
              <a:rPr lang="en-US" sz="2100" b="1" dirty="0"/>
              <a:t>Maintainability:</a:t>
            </a:r>
            <a:r>
              <a:rPr lang="en-US" sz="2100" dirty="0"/>
              <a:t> CI/CD pipeline + modular codebase → quick fixes and easy onboarding</a:t>
            </a:r>
          </a:p>
          <a:p>
            <a:r>
              <a:rPr lang="en-US" sz="2100" b="1" dirty="0"/>
              <a:t>Stakeholder Benefit:</a:t>
            </a:r>
            <a:r>
              <a:rPr lang="en-US" sz="2100" dirty="0"/>
              <a:t> Buyers get fair pricing, sellers get optimal strategy, agents get more leads, admins get full oversight</a:t>
            </a:r>
          </a:p>
          <a:p>
            <a:r>
              <a:rPr lang="en-US" sz="2100" b="1" dirty="0"/>
              <a:t>Feasibility:</a:t>
            </a:r>
            <a:r>
              <a:rPr lang="en-US" sz="2100" dirty="0"/>
              <a:t>  High operational acceptance — benefits are clear for all stakeholders</a:t>
            </a:r>
          </a:p>
          <a:p>
            <a:pPr marL="0" indent="0">
              <a:buNone/>
            </a:pPr>
            <a:br>
              <a:rPr lang="en-US" sz="1600" dirty="0"/>
            </a:br>
            <a:endParaRPr 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7929372" y="6356351"/>
            <a:ext cx="2057400" cy="365125"/>
          </a:xfrm>
        </p:spPr>
        <p:txBody>
          <a:bodyPr>
            <a:normAutofit/>
          </a:bodyPr>
          <a:lstStyle/>
          <a:p>
            <a:pPr>
              <a:spcAft>
                <a:spcPts val="600"/>
              </a:spcAft>
            </a:pPr>
            <a:fld id="{DC2A8C5E-5ACC-4DAB-B41C-5718F8C58B6D}" type="slidenum">
              <a:rPr lang="en-US">
                <a:solidFill>
                  <a:schemeClr val="tx1">
                    <a:lumMod val="50000"/>
                    <a:lumOff val="50000"/>
                  </a:schemeClr>
                </a:solidFill>
                <a:latin typeface="Times New Roman" panose="02020603050405020304" pitchFamily="18" charset="0"/>
                <a:cs typeface="Times New Roman" panose="02020603050405020304" pitchFamily="18" charset="0"/>
              </a:rPr>
              <a:pPr>
                <a:spcAft>
                  <a:spcPts val="600"/>
                </a:spcAft>
              </a:pPr>
              <a:t>12</a:t>
            </a:fld>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A6895D-466F-092E-A564-5CE4C9A753A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F6A2BD-A63C-9D3F-3D39-68FFE3CE0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2D500885-97D9-8C30-0ACD-6D65EEB3C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2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useBgFill="1">
        <p:nvSpPr>
          <p:cNvPr id="13" name="Rectangle 12">
            <a:extLst>
              <a:ext uri="{FF2B5EF4-FFF2-40B4-BE49-F238E27FC236}">
                <a16:creationId xmlns:a16="http://schemas.microsoft.com/office/drawing/2014/main" id="{B42D9A0C-EF9C-3604-3426-14ED8DA629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9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01D56A1B-28B2-E719-A054-9480F2147E0C}"/>
              </a:ext>
            </a:extLst>
          </p:cNvPr>
          <p:cNvSpPr>
            <a:spLocks noGrp="1"/>
          </p:cNvSpPr>
          <p:nvPr>
            <p:ph type="title"/>
          </p:nvPr>
        </p:nvSpPr>
        <p:spPr>
          <a:xfrm>
            <a:off x="2360676" y="548640"/>
            <a:ext cx="7626096" cy="1179576"/>
          </a:xfrm>
        </p:spPr>
        <p:txBody>
          <a:bodyPr>
            <a:normAutofit/>
          </a:bodyPr>
          <a:lstStyle/>
          <a:p>
            <a:pPr lvl="0" algn="l"/>
            <a:r>
              <a:rPr lang="en-US" sz="3500" dirty="0">
                <a:latin typeface="Times New Roman" panose="02020603050405020304" pitchFamily="18" charset="0"/>
                <a:cs typeface="Times New Roman" panose="02020603050405020304" pitchFamily="18" charset="0"/>
              </a:rPr>
              <a:t>Project Schedule: Gantt Chart</a:t>
            </a:r>
          </a:p>
        </p:txBody>
      </p:sp>
      <p:sp>
        <p:nvSpPr>
          <p:cNvPr id="15" name="Rectangle 14">
            <a:extLst>
              <a:ext uri="{FF2B5EF4-FFF2-40B4-BE49-F238E27FC236}">
                <a16:creationId xmlns:a16="http://schemas.microsoft.com/office/drawing/2014/main" id="{49B930DF-815B-DC60-7068-A677D16936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8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F4E55270-63FC-D712-1CB7-1E5C4DE41BCD}"/>
              </a:ext>
            </a:extLst>
          </p:cNvPr>
          <p:cNvSpPr>
            <a:spLocks noGrp="1"/>
          </p:cNvSpPr>
          <p:nvPr>
            <p:ph type="sldNum" sz="quarter" idx="12"/>
          </p:nvPr>
        </p:nvSpPr>
        <p:spPr>
          <a:xfrm>
            <a:off x="7929372" y="6356351"/>
            <a:ext cx="2057400" cy="365125"/>
          </a:xfrm>
        </p:spPr>
        <p:txBody>
          <a:bodyPr>
            <a:normAutofit/>
          </a:bodyPr>
          <a:lstStyle/>
          <a:p>
            <a:pPr>
              <a:spcAft>
                <a:spcPts val="600"/>
              </a:spcAft>
            </a:pPr>
            <a:fld id="{DC2A8C5E-5ACC-4DAB-B41C-5718F8C58B6D}" type="slidenum">
              <a:rPr lang="en-US">
                <a:solidFill>
                  <a:schemeClr val="tx1">
                    <a:lumMod val="50000"/>
                    <a:lumOff val="50000"/>
                  </a:schemeClr>
                </a:solidFill>
                <a:latin typeface="Times New Roman" panose="02020603050405020304" pitchFamily="18" charset="0"/>
                <a:cs typeface="Times New Roman" panose="02020603050405020304" pitchFamily="18" charset="0"/>
              </a:rPr>
              <a:pPr>
                <a:spcAft>
                  <a:spcPts val="600"/>
                </a:spcAft>
              </a:pPr>
              <a:t>13</a:t>
            </a:fld>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6D736F93-A85A-4A3D-5BFD-A7CA33528233}"/>
              </a:ext>
            </a:extLst>
          </p:cNvPr>
          <p:cNvPicPr>
            <a:picLocks noChangeAspect="1"/>
          </p:cNvPicPr>
          <p:nvPr/>
        </p:nvPicPr>
        <p:blipFill>
          <a:blip r:embed="rId2"/>
          <a:stretch>
            <a:fillRect/>
          </a:stretch>
        </p:blipFill>
        <p:spPr>
          <a:xfrm>
            <a:off x="1828800" y="2414016"/>
            <a:ext cx="7952602" cy="3493008"/>
          </a:xfrm>
          <a:prstGeom prst="rect">
            <a:avLst/>
          </a:prstGeom>
        </p:spPr>
      </p:pic>
    </p:spTree>
    <p:extLst>
      <p:ext uri="{BB962C8B-B14F-4D97-AF65-F5344CB8AC3E}">
        <p14:creationId xmlns:p14="http://schemas.microsoft.com/office/powerpoint/2010/main" val="735342760"/>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C7C3F9-3E18-6F25-C28B-655BF85C587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D2F43-5AAD-387E-1BF5-752EB4281D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3E7BE358-256D-B103-172E-E3EAC2169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2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useBgFill="1">
        <p:nvSpPr>
          <p:cNvPr id="13" name="Rectangle 12">
            <a:extLst>
              <a:ext uri="{FF2B5EF4-FFF2-40B4-BE49-F238E27FC236}">
                <a16:creationId xmlns:a16="http://schemas.microsoft.com/office/drawing/2014/main" id="{B64EDAEC-E0E0-01FE-72DB-C51ECC88B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9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2B809AC8-8C63-3DE5-01CD-A141F45E5022}"/>
              </a:ext>
            </a:extLst>
          </p:cNvPr>
          <p:cNvSpPr>
            <a:spLocks noGrp="1"/>
          </p:cNvSpPr>
          <p:nvPr>
            <p:ph type="title"/>
          </p:nvPr>
        </p:nvSpPr>
        <p:spPr>
          <a:xfrm>
            <a:off x="2360676" y="548640"/>
            <a:ext cx="7626096" cy="1051560"/>
          </a:xfrm>
        </p:spPr>
        <p:txBody>
          <a:bodyPr>
            <a:normAutofit/>
          </a:bodyPr>
          <a:lstStyle/>
          <a:p>
            <a:pPr lvl="0"/>
            <a:r>
              <a:rPr lang="en-US" sz="3600" dirty="0">
                <a:latin typeface="Times New Roman" panose="02020603050405020304" pitchFamily="18" charset="0"/>
                <a:cs typeface="Times New Roman" panose="02020603050405020304" pitchFamily="18" charset="0"/>
              </a:rPr>
              <a:t>Tasks for 1st Iteration (30% Milestone)</a:t>
            </a:r>
            <a:endParaRPr lang="en-US" sz="3500"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7A5D9F09-C589-25A3-A145-C79343691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8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3C98A750-52EB-6C22-5B39-C187D866ED69}"/>
              </a:ext>
            </a:extLst>
          </p:cNvPr>
          <p:cNvSpPr>
            <a:spLocks noGrp="1"/>
          </p:cNvSpPr>
          <p:nvPr>
            <p:ph type="sldNum" sz="quarter" idx="12"/>
          </p:nvPr>
        </p:nvSpPr>
        <p:spPr>
          <a:xfrm>
            <a:off x="7929372" y="6356351"/>
            <a:ext cx="2057400" cy="365125"/>
          </a:xfrm>
        </p:spPr>
        <p:txBody>
          <a:bodyPr>
            <a:normAutofit/>
          </a:bodyPr>
          <a:lstStyle/>
          <a:p>
            <a:pPr>
              <a:spcAft>
                <a:spcPts val="600"/>
              </a:spcAft>
            </a:pPr>
            <a:fld id="{DC2A8C5E-5ACC-4DAB-B41C-5718F8C58B6D}" type="slidenum">
              <a:rPr lang="en-US">
                <a:solidFill>
                  <a:schemeClr val="tx1">
                    <a:lumMod val="50000"/>
                    <a:lumOff val="50000"/>
                  </a:schemeClr>
                </a:solidFill>
                <a:latin typeface="Times New Roman" panose="02020603050405020304" pitchFamily="18" charset="0"/>
                <a:cs typeface="Times New Roman" panose="02020603050405020304" pitchFamily="18" charset="0"/>
              </a:rPr>
              <a:pPr>
                <a:spcAft>
                  <a:spcPts val="600"/>
                </a:spcAft>
              </a:pPr>
              <a:t>14</a:t>
            </a:fld>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241E65B-DF32-0453-77D1-896C00811B04}"/>
              </a:ext>
            </a:extLst>
          </p:cNvPr>
          <p:cNvSpPr>
            <a:spLocks noGrp="1"/>
          </p:cNvSpPr>
          <p:nvPr>
            <p:ph idx="1"/>
          </p:nvPr>
        </p:nvSpPr>
        <p:spPr>
          <a:xfrm>
            <a:off x="1981200" y="2221993"/>
            <a:ext cx="8534400" cy="4255008"/>
          </a:xfrm>
        </p:spPr>
        <p:txBody>
          <a:bodyPr>
            <a:normAutofit fontScale="32500" lnSpcReduction="20000"/>
          </a:bodyPr>
          <a:lstStyle/>
          <a:p>
            <a:pPr marL="0" indent="0">
              <a:buNone/>
            </a:pPr>
            <a:r>
              <a:rPr lang="en-US" sz="3700" dirty="0">
                <a:latin typeface="Times New Roman" panose="02020603050405020304" pitchFamily="18" charset="0"/>
                <a:cs typeface="Times New Roman" panose="02020603050405020304" pitchFamily="18" charset="0"/>
              </a:rPr>
              <a:t>Deliverables for the 30% evaluation checkpoint:</a:t>
            </a:r>
          </a:p>
          <a:p>
            <a:pPr marL="0" indent="0">
              <a:buNone/>
            </a:pPr>
            <a:endParaRPr lang="en-US" sz="3700" dirty="0">
              <a:latin typeface="Times New Roman" panose="02020603050405020304" pitchFamily="18" charset="0"/>
              <a:cs typeface="Times New Roman" panose="02020603050405020304" pitchFamily="18" charset="0"/>
            </a:endParaRPr>
          </a:p>
          <a:p>
            <a:pPr marL="0" indent="0">
              <a:buNone/>
            </a:pPr>
            <a:r>
              <a:rPr lang="en-US" sz="3700" b="1" dirty="0">
                <a:latin typeface="Times New Roman" panose="02020603050405020304" pitchFamily="18" charset="0"/>
                <a:cs typeface="Times New Roman" panose="02020603050405020304" pitchFamily="18" charset="0"/>
              </a:rPr>
              <a:t>Requirements &amp; System Design</a:t>
            </a:r>
          </a:p>
          <a:p>
            <a:pPr algn="just"/>
            <a:r>
              <a:rPr lang="en-US" sz="3700" dirty="0">
                <a:latin typeface="Times New Roman" panose="02020603050405020304" pitchFamily="18" charset="0"/>
                <a:cs typeface="Times New Roman" panose="02020603050405020304" pitchFamily="18" charset="0"/>
              </a:rPr>
              <a:t>Finalized SRS document</a:t>
            </a:r>
          </a:p>
          <a:p>
            <a:pPr algn="just"/>
            <a:r>
              <a:rPr lang="en-US" sz="3700" dirty="0">
                <a:latin typeface="Times New Roman" panose="02020603050405020304" pitchFamily="18" charset="0"/>
                <a:cs typeface="Times New Roman" panose="02020603050405020304" pitchFamily="18" charset="0"/>
              </a:rPr>
              <a:t>UML diagrams: use case, activity, and sequence</a:t>
            </a:r>
          </a:p>
          <a:p>
            <a:pPr algn="just"/>
            <a:r>
              <a:rPr lang="en-US" sz="3700" dirty="0">
                <a:latin typeface="Times New Roman" panose="02020603050405020304" pitchFamily="18" charset="0"/>
                <a:cs typeface="Times New Roman" panose="02020603050405020304" pitchFamily="18" charset="0"/>
              </a:rPr>
              <a:t>ER diagram for the database schema</a:t>
            </a:r>
          </a:p>
          <a:p>
            <a:pPr algn="just"/>
            <a:r>
              <a:rPr lang="en-US" sz="3700" dirty="0">
                <a:latin typeface="Times New Roman" panose="02020603050405020304" pitchFamily="18" charset="0"/>
                <a:cs typeface="Times New Roman" panose="02020603050405020304" pitchFamily="18" charset="0"/>
              </a:rPr>
              <a:t>3-tier architecture diagram (Frontend, Backend, ML service)</a:t>
            </a:r>
          </a:p>
          <a:p>
            <a:endParaRPr lang="en-US" sz="3700" dirty="0">
              <a:latin typeface="Times New Roman" panose="02020603050405020304" pitchFamily="18" charset="0"/>
              <a:cs typeface="Times New Roman" panose="02020603050405020304" pitchFamily="18" charset="0"/>
            </a:endParaRPr>
          </a:p>
          <a:p>
            <a:pPr marL="0" indent="0" algn="just">
              <a:buNone/>
            </a:pPr>
            <a:r>
              <a:rPr lang="en-US" sz="3700" b="1" dirty="0">
                <a:latin typeface="Times New Roman" panose="02020603050405020304" pitchFamily="18" charset="0"/>
                <a:cs typeface="Times New Roman" panose="02020603050405020304" pitchFamily="18" charset="0"/>
              </a:rPr>
              <a:t>UI/UX Wireframes &amp; Prototypes</a:t>
            </a:r>
          </a:p>
          <a:p>
            <a:r>
              <a:rPr lang="en-US" sz="3700" dirty="0">
                <a:latin typeface="Times New Roman" panose="02020603050405020304" pitchFamily="18" charset="0"/>
                <a:cs typeface="Times New Roman" panose="02020603050405020304" pitchFamily="18" charset="0"/>
              </a:rPr>
              <a:t>Figma mockups for major screens (Home, Search, Listing, Dashboard, Chatbot)</a:t>
            </a:r>
          </a:p>
          <a:p>
            <a:r>
              <a:rPr lang="en-US" sz="3700" dirty="0">
                <a:latin typeface="Times New Roman" panose="02020603050405020304" pitchFamily="18" charset="0"/>
                <a:cs typeface="Times New Roman" panose="02020603050405020304" pitchFamily="18" charset="0"/>
              </a:rPr>
              <a:t>Navigation flow diagrams for buyer and seller journeys</a:t>
            </a:r>
          </a:p>
          <a:p>
            <a:r>
              <a:rPr lang="en-US" sz="3700" dirty="0">
                <a:latin typeface="Times New Roman" panose="02020603050405020304" pitchFamily="18" charset="0"/>
                <a:cs typeface="Times New Roman" panose="02020603050405020304" pitchFamily="18" charset="0"/>
              </a:rPr>
              <a:t>Responsive layouts for both mobile and web</a:t>
            </a:r>
          </a:p>
          <a:p>
            <a:pPr algn="just"/>
            <a:endParaRPr lang="en-US" sz="3700" dirty="0">
              <a:latin typeface="Times New Roman" panose="02020603050405020304" pitchFamily="18" charset="0"/>
              <a:cs typeface="Times New Roman" panose="02020603050405020304" pitchFamily="18" charset="0"/>
            </a:endParaRPr>
          </a:p>
          <a:p>
            <a:pPr marL="0" indent="0">
              <a:buNone/>
            </a:pPr>
            <a:r>
              <a:rPr lang="en-US" sz="3700" b="1" dirty="0">
                <a:latin typeface="Times New Roman" panose="02020603050405020304" pitchFamily="18" charset="0"/>
                <a:cs typeface="Times New Roman" panose="02020603050405020304" pitchFamily="18" charset="0"/>
              </a:rPr>
              <a:t>Backend API Foundation</a:t>
            </a:r>
          </a:p>
          <a:p>
            <a:r>
              <a:rPr lang="en-US" sz="3700" dirty="0">
                <a:latin typeface="Times New Roman" panose="02020603050405020304" pitchFamily="18" charset="0"/>
                <a:cs typeface="Times New Roman" panose="02020603050405020304" pitchFamily="18" charset="0"/>
              </a:rPr>
              <a:t>Node.js + Express server with MongoDB connected</a:t>
            </a:r>
          </a:p>
          <a:p>
            <a:r>
              <a:rPr lang="en-US" sz="3700" dirty="0">
                <a:latin typeface="Times New Roman" panose="02020603050405020304" pitchFamily="18" charset="0"/>
                <a:cs typeface="Times New Roman" panose="02020603050405020304" pitchFamily="18" charset="0"/>
              </a:rPr>
              <a:t>JWT authentication (register, login, role-based access)</a:t>
            </a:r>
          </a:p>
          <a:p>
            <a:r>
              <a:rPr lang="en-US" sz="3700" dirty="0">
                <a:latin typeface="Times New Roman" panose="02020603050405020304" pitchFamily="18" charset="0"/>
                <a:cs typeface="Times New Roman" panose="02020603050405020304" pitchFamily="18" charset="0"/>
              </a:rPr>
              <a:t>Core REST API endpoints: CRUD for property listings</a:t>
            </a:r>
          </a:p>
          <a:p>
            <a:endParaRPr lang="en-US" sz="3700" dirty="0">
              <a:latin typeface="Times New Roman" panose="02020603050405020304" pitchFamily="18" charset="0"/>
              <a:cs typeface="Times New Roman" panose="02020603050405020304" pitchFamily="18" charset="0"/>
            </a:endParaRPr>
          </a:p>
          <a:p>
            <a:pPr marL="0" indent="0">
              <a:buNone/>
            </a:pPr>
            <a:r>
              <a:rPr lang="en-US" sz="3700" b="1" dirty="0">
                <a:latin typeface="Times New Roman" panose="02020603050405020304" pitchFamily="18" charset="0"/>
                <a:cs typeface="Times New Roman" panose="02020603050405020304" pitchFamily="18" charset="0"/>
              </a:rPr>
              <a:t>ML Model – Initial Version (In Progress)</a:t>
            </a:r>
          </a:p>
          <a:p>
            <a:r>
              <a:rPr lang="en-US" sz="3700" dirty="0">
                <a:latin typeface="Times New Roman" panose="02020603050405020304" pitchFamily="18" charset="0"/>
                <a:cs typeface="Times New Roman" panose="02020603050405020304" pitchFamily="18" charset="0"/>
              </a:rPr>
              <a:t>Pakistan real estate dataset collected and preprocessed</a:t>
            </a:r>
          </a:p>
          <a:p>
            <a:r>
              <a:rPr lang="en-US" sz="3700" dirty="0">
                <a:latin typeface="Times New Roman" panose="02020603050405020304" pitchFamily="18" charset="0"/>
                <a:cs typeface="Times New Roman" panose="02020603050405020304" pitchFamily="18" charset="0"/>
              </a:rPr>
              <a:t>Baseline model (Linear Regression / Random Forest) trained and evaluated</a:t>
            </a:r>
          </a:p>
          <a:p>
            <a:r>
              <a:rPr lang="en-US" sz="3700" dirty="0">
                <a:latin typeface="Times New Roman" panose="02020603050405020304" pitchFamily="18" charset="0"/>
                <a:cs typeface="Times New Roman" panose="02020603050405020304" pitchFamily="18" charset="0"/>
              </a:rPr>
              <a:t>Flask API endpoint for price prediction deployed</a:t>
            </a:r>
          </a:p>
          <a:p>
            <a:pPr marL="0" indent="0" algn="just">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027388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04FC79-2A77-B982-19CA-A0F3331AF1B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2E2B088-6BA5-BDD0-EF46-C0A829F35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7984648-35C0-CE81-A49A-D3EB502883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2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useBgFill="1">
        <p:nvSpPr>
          <p:cNvPr id="13" name="Rectangle 12">
            <a:extLst>
              <a:ext uri="{FF2B5EF4-FFF2-40B4-BE49-F238E27FC236}">
                <a16:creationId xmlns:a16="http://schemas.microsoft.com/office/drawing/2014/main" id="{EBDA3C12-690A-6382-3521-E39890F8C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9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96551992-DCD5-0548-BAA9-A98837AE08A4}"/>
              </a:ext>
            </a:extLst>
          </p:cNvPr>
          <p:cNvSpPr>
            <a:spLocks noGrp="1"/>
          </p:cNvSpPr>
          <p:nvPr>
            <p:ph type="title"/>
          </p:nvPr>
        </p:nvSpPr>
        <p:spPr>
          <a:xfrm>
            <a:off x="2360676" y="548640"/>
            <a:ext cx="7626096" cy="1179576"/>
          </a:xfrm>
        </p:spPr>
        <p:txBody>
          <a:bodyPr>
            <a:normAutofit/>
          </a:bodyPr>
          <a:lstStyle/>
          <a:p>
            <a:pPr lvl="0" algn="l"/>
            <a:r>
              <a:rPr lang="en-US" sz="3600" dirty="0">
                <a:latin typeface="Times New Roman" panose="02020603050405020304" pitchFamily="18" charset="0"/>
                <a:cs typeface="Times New Roman" panose="02020603050405020304" pitchFamily="18" charset="0"/>
              </a:rPr>
              <a:t>Conclusion</a:t>
            </a:r>
            <a:endParaRPr lang="en-US" sz="3500" b="1"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340D0233-1871-948F-8A95-197F9F32A2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8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783115A9-9039-8AB4-1278-5B5B0F1C4949}"/>
              </a:ext>
            </a:extLst>
          </p:cNvPr>
          <p:cNvSpPr>
            <a:spLocks noGrp="1"/>
          </p:cNvSpPr>
          <p:nvPr>
            <p:ph type="sldNum" sz="quarter" idx="12"/>
          </p:nvPr>
        </p:nvSpPr>
        <p:spPr>
          <a:xfrm>
            <a:off x="7929372" y="6356351"/>
            <a:ext cx="2057400" cy="365125"/>
          </a:xfrm>
        </p:spPr>
        <p:txBody>
          <a:bodyPr>
            <a:normAutofit/>
          </a:bodyPr>
          <a:lstStyle/>
          <a:p>
            <a:pPr>
              <a:spcAft>
                <a:spcPts val="600"/>
              </a:spcAft>
            </a:pPr>
            <a:fld id="{DC2A8C5E-5ACC-4DAB-B41C-5718F8C58B6D}" type="slidenum">
              <a:rPr lang="en-US">
                <a:solidFill>
                  <a:schemeClr val="tx1">
                    <a:lumMod val="50000"/>
                    <a:lumOff val="50000"/>
                  </a:schemeClr>
                </a:solidFill>
                <a:latin typeface="Times New Roman" panose="02020603050405020304" pitchFamily="18" charset="0"/>
                <a:cs typeface="Times New Roman" panose="02020603050405020304" pitchFamily="18" charset="0"/>
              </a:rPr>
              <a:pPr>
                <a:spcAft>
                  <a:spcPts val="600"/>
                </a:spcAft>
              </a:pPr>
              <a:t>15</a:t>
            </a:fld>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EC3C6AB5-D349-DC5B-AF98-BACCCCB5AD35}"/>
              </a:ext>
            </a:extLst>
          </p:cNvPr>
          <p:cNvSpPr>
            <a:spLocks noGrp="1"/>
          </p:cNvSpPr>
          <p:nvPr>
            <p:ph idx="1"/>
          </p:nvPr>
        </p:nvSpPr>
        <p:spPr>
          <a:xfrm>
            <a:off x="1981200" y="2487169"/>
            <a:ext cx="8229600" cy="3638995"/>
          </a:xfrm>
        </p:spPr>
        <p:txBody>
          <a:bodyPr>
            <a:normAutofit/>
          </a:bodyPr>
          <a:lstStyle/>
          <a:p>
            <a:pPr marL="0" indent="0">
              <a:buNone/>
            </a:pPr>
            <a:r>
              <a:rPr lang="en-US" sz="1600" dirty="0">
                <a:latin typeface="Times New Roman" panose="02020603050405020304" pitchFamily="18" charset="0"/>
                <a:cs typeface="Times New Roman" panose="02020603050405020304" pitchFamily="18" charset="0"/>
              </a:rPr>
              <a:t>Pakistan’s PKR 1 Trillion real estate market remains fragmented and data-blind. We're changing that with a fully feasible, AI-powered platform — featuring ML-driven price prediction, a complete buy-sell-rent marketplace, bilingual web/mobile access, and full documentation. This is not just a final year project — it’s the solution Pakistan’s property market needs.</a:t>
            </a:r>
          </a:p>
          <a:p>
            <a:pPr marL="0" indent="0">
              <a:buNone/>
            </a:pPr>
            <a:r>
              <a:rPr lang="en-US" sz="1600" dirty="0"/>
              <a:t> </a:t>
            </a:r>
            <a:endParaRPr lang="en-GB" sz="1600" dirty="0">
              <a:latin typeface="Times New Roman" panose="02020603050405020304" pitchFamily="18" charset="0"/>
              <a:cs typeface="Times New Roman" panose="02020603050405020304" pitchFamily="18" charset="0"/>
            </a:endParaRPr>
          </a:p>
          <a:p>
            <a:pPr marL="0" indent="0">
              <a:buNone/>
            </a:pPr>
            <a:endParaRPr lang="en-GB" sz="1600" dirty="0">
              <a:latin typeface="Times New Roman" panose="02020603050405020304" pitchFamily="18" charset="0"/>
              <a:cs typeface="Times New Roman" panose="02020603050405020304" pitchFamily="18" charset="0"/>
            </a:endParaRPr>
          </a:p>
          <a:p>
            <a:pPr marL="0" indent="0" algn="ctr">
              <a:buNone/>
            </a:pPr>
            <a:r>
              <a:rPr lang="en-GB" sz="2400" dirty="0">
                <a:latin typeface="Times New Roman" panose="02020603050405020304" pitchFamily="18" charset="0"/>
                <a:cs typeface="Times New Roman" panose="02020603050405020304" pitchFamily="18" charset="0"/>
              </a:rPr>
              <a:t>Thank You</a:t>
            </a:r>
            <a:r>
              <a:rPr lang="en-US" sz="2400" dirty="0">
                <a:latin typeface="Times New Roman" panose="02020603050405020304" pitchFamily="18" charset="0"/>
                <a:cs typeface="Times New Roman" panose="02020603050405020304" pitchFamily="18" charset="0"/>
              </a:rPr>
              <a:t> </a:t>
            </a:r>
            <a:endParaRPr lang="en-GB" sz="24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799575"/>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964</TotalTime>
  <Words>1593</Words>
  <Application>Microsoft Office PowerPoint</Application>
  <PresentationFormat>Widescreen</PresentationFormat>
  <Paragraphs>158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quote-cjk-patch</vt:lpstr>
      <vt:lpstr>Times New Roman</vt:lpstr>
      <vt:lpstr>Office Theme</vt:lpstr>
      <vt:lpstr>House Buying &amp; Selling With Price Prediction</vt:lpstr>
      <vt:lpstr>Agenda of the Presentation</vt:lpstr>
      <vt:lpstr>Motivation</vt:lpstr>
      <vt:lpstr>Brief Introduction</vt:lpstr>
      <vt:lpstr>Scope</vt:lpstr>
      <vt:lpstr>Scope  Cont…</vt:lpstr>
      <vt:lpstr>Functionalities</vt:lpstr>
      <vt:lpstr>Proposed Tools / Platform</vt:lpstr>
      <vt:lpstr>Feasibility: Technical</vt:lpstr>
      <vt:lpstr>Feasibility: Financial</vt:lpstr>
      <vt:lpstr>Feasibility: Resource</vt:lpstr>
      <vt:lpstr>Feasibility: Operational</vt:lpstr>
      <vt:lpstr>Project Schedule: Gantt Chart</vt:lpstr>
      <vt:lpstr>Tasks for 1st Iteration (30% Milestone)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USER</dc:creator>
  <cp:lastModifiedBy>SP23-BSE-088(Shehzad Ahmad )</cp:lastModifiedBy>
  <cp:revision>42</cp:revision>
  <dcterms:created xsi:type="dcterms:W3CDTF">2013-09-23T09:08:15Z</dcterms:created>
  <dcterms:modified xsi:type="dcterms:W3CDTF">2026-05-14T02:36:18Z</dcterms:modified>
</cp:coreProperties>
</file>